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7c598032-10fd-67d9-3ab9-cde995633da4}">
          <p14:sldIdLst>
            <p14:sldId id="256"/>
          </p14:sldIdLst>
        </p14:section>
        <p14:section name="Resumen ejecutivo" id="{f1c5ad60-2f56-2669-49d0-f5a0ba4eb710}">
          <p14:sldIdLst>
            <p14:sldId id="257"/>
          </p14:sldIdLst>
        </p14:section>
        <p14:section name="Dónde estamos" id="{6b49367e-bd95-39e2-61c6-798ffc55aab0}">
          <p14:sldIdLst>
            <p14:sldId id="258"/>
          </p14:sldIdLst>
        </p14:section>
        <p14:section name="Qué hemos hecho" id="{c4f8a602-0c63-400f-5e17-44c0139bfc1d}">
          <p14:sldIdLst>
            <p14:sldId id="259"/>
            <p14:sldId id="260"/>
          </p14:sldIdLst>
        </p14:section>
        <p14:section name="Qué han dicho" id="{16b36eec-1fe1-6e78-2115-68705e825fc7}">
          <p14:sldIdLst>
            <p14:sldId id="261"/>
            <p14:sldId id="262"/>
          </p14:sldIdLst>
        </p14:section>
        <p14:section name="Estatus" id="{8bfdff04-6269-1771-231d-bc84c286696a}">
          <p14:sldIdLst>
            <p14:sldId id="263"/>
            <p14:sldId id="264"/>
            <p14:sldId id="265"/>
          </p14:sldIdLst>
        </p14:section>
        <p14:section name="Plan" id="{96b9556e-2f4a-eb14-7319-1a7e93f8b7b6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7280"/>
                </a:solidFill>
                <a:latin typeface="+mn-lt"/>
              </a:rPr>
              <a:t>Campañas del 7-sep al 14-oct (cuentas, aprox.)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Cuentas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Correos enviados</c:v>
                  </c:pt>
                  <c:pt idx="1">
                    <c:v>Entregados</c:v>
                  </c:pt>
                  <c:pt idx="2">
                    <c:v>Respuestas</c:v>
                  </c:pt>
                  <c:pt idx="3">
                    <c:v>Visitas agendadas</c:v>
                  </c:pt>
                  <c:pt idx="4">
                    <c:v>Ventas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133</c:v>
                </c:pt>
                <c:pt idx="1">
                  <c:v>103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Mensaje único del deck: la fábrica terminó; el cuello de botella es la distribución y la prueba con cliente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Estructura situación-complicación-resolución. La resolución está detallada en las láminas 11 y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cifras. Verde: hecho por la fábrica. Rojo: el mercado todavía no ha respondido. Ámbar: la única vía nueva.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fábrica cerró el envoltorio en septiembre. Desde el 17-sep casi todo el movimiento es correo en frío.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palancas tocadas, dos sin tocar. La que no se ha tocado es la que menos cuesta.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Citas literales del correo de la casa. La lectura de cada una es de la fábrica.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sumadas de PIPELINE.md y del correo: 28+24+38+8+17+12+3+3 envíos; ~30 rebotes. Son aproximadas y así se declaran.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 estado por canal. Los pasos siguientes son los de LISTA-DE-VENTA §2 y LANZAMIENTO-COPIA.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primeras causas son comerciales; la cuarta es de control interno y protege la reputación de la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lo pendiente es del titular salvo G2, que es del mercado. Nada de la lista está en manos de la fábrica.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primeras apuestas no cuestan dinero y tienen el comprador dentro de la herramienta. La tercera y la cuarta son las que construyen el argumento de hostelería.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Ámbar: asumidos por decisión y documentados. Gris: sin remedio o aceptados. Rojo: los dos que piden una regla nueva.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cuatro preguntas cerradas que solo puede contestar el titular. Todo lo demás está en la lista maestra.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932688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OCTAVA / ZEUS · Resumen ejecutivo · estado a 14-oct-2026 · confidencial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OCTAVA / ZEUS · Resumen ejecutivo · estado a 14-oct-2026 · confidencial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ADCFC"/>
                </a:solidFill>
              </a:rPr>
              <a:t>OCTAVA / ZEUS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737360"/>
            <a:ext cx="9326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Un mes en el mercado: el producto está listo, la distribución no ha empezado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0233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Resumen ejecutivo para el titular · dónde estamos, qué aplicamos, qué nos han dicho y qué queda pendiente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Estado a 14 de octubre de 2026 · fuentes: repositorios zeus y octava-skills, correo de la casa, calendario</a:t>
            </a:r>
            <a:endParaRPr lang="en-US" sz="1800" dirty="0"/>
          </a:p>
        </p:txBody>
      </p:sp>
      <p:sp>
        <p:nvSpPr>
          <p:cNvPr id="5" name="marca"/>
          <p:cNvSpPr/>
          <p:nvPr/>
        </p:nvSpPr>
        <p:spPr>
          <a:xfrm>
            <a:off x="10332720" y="1005840"/>
            <a:ext cx="1097280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ocho"/>
          <p:cNvSpPr txBox="1"/>
          <p:nvPr/>
        </p:nvSpPr>
        <p:spPr>
          <a:xfrm>
            <a:off x="1033272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Resumen ejecutivo: tenemos catálogo, tienda y escaparate; no tenemos ni una venta ni una visita</a:t>
            </a:r>
            <a:endParaRPr lang="en-US" sz="2600" dirty="0"/>
          </a:p>
        </p:txBody>
      </p:sp>
      <p:sp>
        <p:nvSpPr>
          <p:cNvPr id="3" name="col Situación"/>
          <p:cNvSpPr/>
          <p:nvPr/>
        </p:nvSpPr>
        <p:spPr>
          <a:xfrm>
            <a:off x="548640" y="1371600"/>
            <a:ext cx="3566160" cy="48463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dot Situación"/>
          <p:cNvSpPr/>
          <p:nvPr/>
        </p:nvSpPr>
        <p:spPr>
          <a:xfrm>
            <a:off x="777240" y="1572768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head Situación"/>
          <p:cNvSpPr txBox="1"/>
          <p:nvPr/>
        </p:nvSpPr>
        <p:spPr>
          <a:xfrm>
            <a:off x="1143000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Situación</a:t>
            </a:r>
            <a:endParaRPr lang="en-US" sz="1800" dirty="0"/>
          </a:p>
        </p:txBody>
      </p:sp>
      <p:sp>
        <p:nvSpPr>
          <p:cNvPr id="6" name="body Situación"/>
          <p:cNvSpPr txBox="1"/>
          <p:nvPr/>
        </p:nvSpPr>
        <p:spPr>
          <a:xfrm>
            <a:off x="777240" y="205740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17 skills en estado ACORDADO, auditadas 19/20, con licencia de venta y tarifa ratificada (15-sep).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15 productos dados de alta en Gumroad (cabina.gumroad.com) y escaparate público octava-skills con ficha y enlace de compra.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Repositorio privado de entrega zeus-entrega listo para Polar; Polar abierto en sandbox.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Material de venta completo: oferta de hostelería, guion de visita, mensajes, portadas, textos de lanzamiento por canal.</a:t>
            </a:r>
            <a:endParaRPr lang="en-US" sz="1250" dirty="0"/>
          </a:p>
        </p:txBody>
      </p:sp>
      <p:sp>
        <p:nvSpPr>
          <p:cNvPr id="7" name="col Complicación"/>
          <p:cNvSpPr/>
          <p:nvPr/>
        </p:nvSpPr>
        <p:spPr>
          <a:xfrm>
            <a:off x="4297680" y="1371600"/>
            <a:ext cx="3566160" cy="48463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dot Complicación"/>
          <p:cNvSpPr/>
          <p:nvPr/>
        </p:nvSpPr>
        <p:spPr>
          <a:xfrm>
            <a:off x="4526280" y="15727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head Complicación"/>
          <p:cNvSpPr txBox="1"/>
          <p:nvPr/>
        </p:nvSpPr>
        <p:spPr>
          <a:xfrm>
            <a:off x="4892040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Complicación</a:t>
            </a:r>
            <a:endParaRPr lang="en-US" sz="1800" dirty="0"/>
          </a:p>
        </p:txBody>
      </p:sp>
      <p:sp>
        <p:nvSpPr>
          <p:cNvPr id="10" name="body Complicación"/>
          <p:cNvSpPr txBox="1"/>
          <p:nvPr/>
        </p:nvSpPr>
        <p:spPr>
          <a:xfrm>
            <a:off x="4526280" y="205740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0 ventas en 29 días de tienda. 0 posts publicados en ningún canal: nadie ve el catálogo.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~133 correos en frío a restaurantes de CDMX: 2 respuestas, ambas negativas; ~30 rebotes; 0 visitas.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Fase 2 (prueba gratis a cambio de una cifra) sigue en 0 de 2: sin prueba social no hay argumento.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SkillHQ no admite la tarifa (tope 50 €); myClaude no recibe correo; dos correos automáticos salieron mal formados el 25-sep.</a:t>
            </a:r>
            <a:endParaRPr lang="en-US" sz="1250" dirty="0"/>
          </a:p>
        </p:txBody>
      </p:sp>
      <p:sp>
        <p:nvSpPr>
          <p:cNvPr id="11" name="col Resolución (30 días)"/>
          <p:cNvSpPr/>
          <p:nvPr/>
        </p:nvSpPr>
        <p:spPr>
          <a:xfrm>
            <a:off x="8046720" y="1371600"/>
            <a:ext cx="3566160" cy="48463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dot Resolución (30 días)"/>
          <p:cNvSpPr/>
          <p:nvPr/>
        </p:nvSpPr>
        <p:spPr>
          <a:xfrm>
            <a:off x="8275320" y="1572768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head Resolución (30 días)"/>
          <p:cNvSpPr txBox="1"/>
          <p:nvPr/>
        </p:nvSpPr>
        <p:spPr>
          <a:xfrm>
            <a:off x="8641080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Resolución (30 días)</a:t>
            </a:r>
            <a:endParaRPr lang="en-US" sz="1800" dirty="0"/>
          </a:p>
        </p:txBody>
      </p:sp>
      <p:sp>
        <p:nvSpPr>
          <p:cNvPr id="14" name="body Resolución (30 días)"/>
          <p:cNvSpPr txBox="1"/>
          <p:nvPr/>
        </p:nvSpPr>
        <p:spPr>
          <a:xfrm>
            <a:off x="8275320" y="205740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Invertir el orden de empuje: primero quien ya usa Claude (PACK CONTEXTO, cobro de cartera); hostelería por visita, no por correo.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Publicar esta semana los textos ya escritos (r/ClaudeAI, LinkedIn, r/DJs). Un post por canal, firmado.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Cerrar 1 DJ y 1 empresa con nombre para la fase 2. Es el hueco que decide si el negocio existe.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Camescom (15-oct) como primera puerta institucional a dueños de restaurante; objetivo: una visita presencial.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Dónde estamos: la fábrica en verde, el mercado en cero</a:t>
            </a:r>
            <a:endParaRPr lang="en-US" sz="2600" dirty="0"/>
          </a:p>
        </p:txBody>
      </p:sp>
      <p:sp>
        <p:nvSpPr>
          <p:cNvPr id="3" name="kpi skills a la venta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kpi value"/>
          <p:cNvSpPr txBox="1"/>
          <p:nvPr/>
        </p:nvSpPr>
        <p:spPr>
          <a:xfrm>
            <a:off x="731520" y="1600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5" name="kpi label"/>
          <p:cNvSpPr txBox="1"/>
          <p:nvPr/>
        </p:nvSpPr>
        <p:spPr>
          <a:xfrm>
            <a:off x="731520" y="2450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skills a la venta</a:t>
            </a:r>
            <a:endParaRPr lang="en-US" sz="1300" dirty="0"/>
          </a:p>
        </p:txBody>
      </p:sp>
      <p:sp>
        <p:nvSpPr>
          <p:cNvPr id="6" name="kpi note"/>
          <p:cNvSpPr txBox="1"/>
          <p:nvPr/>
        </p:nvSpPr>
        <p:spPr>
          <a:xfrm>
            <a:off x="731520" y="2788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ACORDADO · 19/20 · G1, G3, G5 en 17/17 · G4 en 16/17 (receta-estandar, con anexo)</a:t>
            </a:r>
            <a:endParaRPr lang="en-US" sz="1050" dirty="0"/>
          </a:p>
        </p:txBody>
      </p:sp>
      <p:sp>
        <p:nvSpPr>
          <p:cNvPr id="7" name="kpi productos en Gumroad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kpi value"/>
          <p:cNvSpPr txBox="1"/>
          <p:nvPr/>
        </p:nvSpPr>
        <p:spPr>
          <a:xfrm>
            <a:off x="4480560" y="1600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9" name="kpi label"/>
          <p:cNvSpPr txBox="1"/>
          <p:nvPr/>
        </p:nvSpPr>
        <p:spPr>
          <a:xfrm>
            <a:off x="4480560" y="2450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productos en Gumroad</a:t>
            </a:r>
            <a:endParaRPr lang="en-US" sz="1300" dirty="0"/>
          </a:p>
        </p:txBody>
      </p:sp>
      <p:sp>
        <p:nvSpPr>
          <p:cNvPr id="10" name="kpi note"/>
          <p:cNvSpPr txBox="1"/>
          <p:nvPr/>
        </p:nvSpPr>
        <p:spPr>
          <a:xfrm>
            <a:off x="4480560" y="2788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Tienda abierta el 16-sep · 30 portadas · 16 zips validados · precios 49–249 €</a:t>
            </a:r>
            <a:endParaRPr lang="en-US" sz="1050" dirty="0"/>
          </a:p>
        </p:txBody>
      </p:sp>
      <p:sp>
        <p:nvSpPr>
          <p:cNvPr id="11" name="kpi ventas · 0 pedidos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kpi value"/>
          <p:cNvSpPr txBox="1"/>
          <p:nvPr/>
        </p:nvSpPr>
        <p:spPr>
          <a:xfrm>
            <a:off x="8229600" y="1600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kpi label"/>
          <p:cNvSpPr txBox="1"/>
          <p:nvPr/>
        </p:nvSpPr>
        <p:spPr>
          <a:xfrm>
            <a:off x="8229600" y="2450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ventas · 0 pedidos</a:t>
            </a:r>
            <a:endParaRPr lang="en-US" sz="1300" dirty="0"/>
          </a:p>
        </p:txBody>
      </p:sp>
      <p:sp>
        <p:nvSpPr>
          <p:cNvPr id="14" name="kpi note"/>
          <p:cNvSpPr txBox="1"/>
          <p:nvPr/>
        </p:nvSpPr>
        <p:spPr>
          <a:xfrm>
            <a:off x="8229600" y="2788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Ningún aviso de venta de Gumroad ni de Polar en el correo a 14-oct</a:t>
            </a:r>
            <a:endParaRPr lang="en-US" sz="1050" dirty="0"/>
          </a:p>
        </p:txBody>
      </p:sp>
      <p:sp>
        <p:nvSpPr>
          <p:cNvPr id="15" name="kpi correos en frío → respuestas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kpi value"/>
          <p:cNvSpPr txBox="1"/>
          <p:nvPr/>
        </p:nvSpPr>
        <p:spPr>
          <a:xfrm>
            <a:off x="731520" y="3931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 → 2</a:t>
            </a:r>
            <a:endParaRPr lang="en-US" sz="4000" dirty="0"/>
          </a:p>
        </p:txBody>
      </p:sp>
      <p:sp>
        <p:nvSpPr>
          <p:cNvPr id="17" name="kpi label"/>
          <p:cNvSpPr txBox="1"/>
          <p:nvPr/>
        </p:nvSpPr>
        <p:spPr>
          <a:xfrm>
            <a:off x="731520" y="4782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correos en frío → respuestas</a:t>
            </a:r>
            <a:endParaRPr lang="en-US" sz="1300" dirty="0"/>
          </a:p>
        </p:txBody>
      </p:sp>
      <p:sp>
        <p:nvSpPr>
          <p:cNvPr id="18" name="kpi note"/>
          <p:cNvSpPr txBox="1"/>
          <p:nvPr/>
        </p:nvSpPr>
        <p:spPr>
          <a:xfrm>
            <a:off x="731520" y="5120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~103 entregados, ~30 rebotes · 2 respuestas (RosaNegra, Mercaderes), las dos negativas</a:t>
            </a:r>
            <a:endParaRPr lang="en-US" sz="1050" dirty="0"/>
          </a:p>
        </p:txBody>
      </p:sp>
      <p:sp>
        <p:nvSpPr>
          <p:cNvPr id="19" name="kpi visitas · posts publicados"/>
          <p:cNvSpPr/>
          <p:nvPr/>
        </p:nvSpPr>
        <p:spPr>
          <a:xfrm>
            <a:off x="429768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kpi value"/>
          <p:cNvSpPr txBox="1"/>
          <p:nvPr/>
        </p:nvSpPr>
        <p:spPr>
          <a:xfrm>
            <a:off x="4480560" y="3931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0</a:t>
            </a:r>
            <a:endParaRPr lang="en-US" sz="4000" dirty="0"/>
          </a:p>
        </p:txBody>
      </p:sp>
      <p:sp>
        <p:nvSpPr>
          <p:cNvPr id="21" name="kpi label"/>
          <p:cNvSpPr txBox="1"/>
          <p:nvPr/>
        </p:nvSpPr>
        <p:spPr>
          <a:xfrm>
            <a:off x="4480560" y="4782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visitas · posts publicados</a:t>
            </a:r>
            <a:endParaRPr lang="en-US" sz="1300" dirty="0"/>
          </a:p>
        </p:txBody>
      </p:sp>
      <p:sp>
        <p:nvSpPr>
          <p:cNvPr id="22" name="kpi note"/>
          <p:cNvSpPr txBox="1"/>
          <p:nvPr/>
        </p:nvSpPr>
        <p:spPr>
          <a:xfrm>
            <a:off x="4480560" y="5120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Ninguna visita de hostelería · ningún post en Reddit, X, LinkedIn o Indie Hackers</a:t>
            </a:r>
            <a:endParaRPr lang="en-US" sz="1050" dirty="0"/>
          </a:p>
        </p:txBody>
      </p:sp>
      <p:sp>
        <p:nvSpPr>
          <p:cNvPr id="23" name="kpi reunión institucional"/>
          <p:cNvSpPr/>
          <p:nvPr/>
        </p:nvSpPr>
        <p:spPr>
          <a:xfrm>
            <a:off x="804672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kpi value"/>
          <p:cNvSpPr txBox="1"/>
          <p:nvPr/>
        </p:nvSpPr>
        <p:spPr>
          <a:xfrm>
            <a:off x="8229600" y="3931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25" name="kpi label"/>
          <p:cNvSpPr txBox="1"/>
          <p:nvPr/>
        </p:nvSpPr>
        <p:spPr>
          <a:xfrm>
            <a:off x="8229600" y="4782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reunión institucional</a:t>
            </a:r>
            <a:endParaRPr lang="en-US" sz="1300" dirty="0"/>
          </a:p>
        </p:txBody>
      </p:sp>
      <p:sp>
        <p:nvSpPr>
          <p:cNvPr id="26" name="kpi note"/>
          <p:cNvSpPr txBox="1"/>
          <p:nvPr/>
        </p:nvSpPr>
        <p:spPr>
          <a:xfrm>
            <a:off x="8229600" y="5120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Camescom (Cámara Española de Comercio en México) · jue 15-oct 9:00 CDMX · invitación aceptada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Qué hemos hecho: trece decisiones y un mes de ejecución, del 15-sep al 14-oct</a:t>
            </a:r>
            <a:endParaRPr lang="en-US" sz="2600" dirty="0"/>
          </a:p>
        </p:txBody>
      </p:sp>
      <p:sp>
        <p:nvSpPr>
          <p:cNvPr id="3" name="eje"/>
          <p:cNvSpPr/>
          <p:nvPr/>
        </p:nvSpPr>
        <p:spPr>
          <a:xfrm>
            <a:off x="822960" y="2148840"/>
            <a:ext cx="9418320" cy="0"/>
          </a:xfrm>
          <a:prstGeom prst="line">
            <a:avLst/>
          </a:prstGeom>
          <a:noFill/>
          <a:ln w="19050">
            <a:solidFill>
              <a:srgbClr val="8A97AB"/>
            </a:solidFill>
            <a:prstDash val="solid"/>
          </a:ln>
        </p:spPr>
      </p:sp>
      <p:sp>
        <p:nvSpPr>
          <p:cNvPr id="4" name="nodo 15-sep"/>
          <p:cNvSpPr/>
          <p:nvPr/>
        </p:nvSpPr>
        <p:spPr>
          <a:xfrm>
            <a:off x="841248" y="2011680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" name="fecha 15-sep"/>
          <p:cNvSpPr txBox="1"/>
          <p:nvPr/>
        </p:nvSpPr>
        <p:spPr>
          <a:xfrm>
            <a:off x="5486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15-sep</a:t>
            </a:r>
            <a:endParaRPr lang="en-US" sz="1200" dirty="0"/>
          </a:p>
        </p:txBody>
      </p:sp>
      <p:sp>
        <p:nvSpPr>
          <p:cNvPr id="6" name="hito 15-sep"/>
          <p:cNvSpPr txBox="1"/>
          <p:nvPr/>
        </p:nvSpPr>
        <p:spPr>
          <a:xfrm>
            <a:off x="548640" y="2514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Tarifa ratificada y 17 en ACORDADO</a:t>
            </a:r>
            <a:endParaRPr lang="en-US" sz="1300" dirty="0"/>
          </a:p>
        </p:txBody>
      </p:sp>
      <p:sp>
        <p:nvSpPr>
          <p:cNvPr id="7" name="detalle 15-sep"/>
          <p:cNvSpPr txBox="1"/>
          <p:nvPr/>
        </p:nvSpPr>
        <p:spPr>
          <a:xfrm>
            <a:off x="548640" y="32461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Decisiones 1–9: Gumroad como canal (IVA como merchant of record), checklist-turno retirada, receta-estandar con anexo.</a:t>
            </a:r>
            <a:endParaRPr lang="en-US" sz="1100" dirty="0"/>
          </a:p>
        </p:txBody>
      </p:sp>
      <p:sp>
        <p:nvSpPr>
          <p:cNvPr id="8" name="nodo 16-sep"/>
          <p:cNvSpPr/>
          <p:nvPr/>
        </p:nvSpPr>
        <p:spPr>
          <a:xfrm>
            <a:off x="2670048" y="2011680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fecha 16-sep"/>
          <p:cNvSpPr txBox="1"/>
          <p:nvPr/>
        </p:nvSpPr>
        <p:spPr>
          <a:xfrm>
            <a:off x="23774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16-sep</a:t>
            </a:r>
            <a:endParaRPr lang="en-US" sz="1200" dirty="0"/>
          </a:p>
        </p:txBody>
      </p:sp>
      <p:sp>
        <p:nvSpPr>
          <p:cNvPr id="10" name="hito 16-sep"/>
          <p:cNvSpPr txBox="1"/>
          <p:nvPr/>
        </p:nvSpPr>
        <p:spPr>
          <a:xfrm>
            <a:off x="2377440" y="2514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Tienda y escaparate</a:t>
            </a:r>
            <a:endParaRPr lang="en-US" sz="1300" dirty="0"/>
          </a:p>
        </p:txBody>
      </p:sp>
      <p:sp>
        <p:nvSpPr>
          <p:cNvPr id="11" name="detalle 16-sep"/>
          <p:cNvSpPr txBox="1"/>
          <p:nvPr/>
        </p:nvSpPr>
        <p:spPr>
          <a:xfrm>
            <a:off x="2377440" y="32461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Gumroad abierta con los 15 productos. octava-skills público con fichas y plugin gratuito. zeus público un día (decisión 11) y privado al siguiente (12).</a:t>
            </a:r>
            <a:endParaRPr lang="en-US" sz="1100" dirty="0"/>
          </a:p>
        </p:txBody>
      </p:sp>
      <p:sp>
        <p:nvSpPr>
          <p:cNvPr id="12" name="nodo 17-sep"/>
          <p:cNvSpPr/>
          <p:nvPr/>
        </p:nvSpPr>
        <p:spPr>
          <a:xfrm>
            <a:off x="4498848" y="2011680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fecha 17-sep"/>
          <p:cNvSpPr txBox="1"/>
          <p:nvPr/>
        </p:nvSpPr>
        <p:spPr>
          <a:xfrm>
            <a:off x="42062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17-sep</a:t>
            </a:r>
            <a:endParaRPr lang="en-US" sz="1200" dirty="0"/>
          </a:p>
        </p:txBody>
      </p:sp>
      <p:sp>
        <p:nvSpPr>
          <p:cNvPr id="14" name="hito 17-sep"/>
          <p:cNvSpPr txBox="1"/>
          <p:nvPr/>
        </p:nvSpPr>
        <p:spPr>
          <a:xfrm>
            <a:off x="4206240" y="2514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Entrega y canales</a:t>
            </a:r>
            <a:endParaRPr lang="en-US" sz="1300" dirty="0"/>
          </a:p>
        </p:txBody>
      </p:sp>
      <p:sp>
        <p:nvSpPr>
          <p:cNvPr id="15" name="detalle 17-sep"/>
          <p:cNvSpPr txBox="1"/>
          <p:nvPr/>
        </p:nvSpPr>
        <p:spPr>
          <a:xfrm>
            <a:off x="4206240" y="32461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zeus-entrega privado con los 15 productos (decisión 13). Polar en sandbox. Consultas a myClaude, SkillHQ y claudemarketplaces. Campaña CDMX-100 preparada.</a:t>
            </a:r>
            <a:endParaRPr lang="en-US" sz="1100" dirty="0"/>
          </a:p>
        </p:txBody>
      </p:sp>
      <p:sp>
        <p:nvSpPr>
          <p:cNvPr id="16" name="nodo 22-sep"/>
          <p:cNvSpPr/>
          <p:nvPr/>
        </p:nvSpPr>
        <p:spPr>
          <a:xfrm>
            <a:off x="6327648" y="2011680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fecha 22-sep"/>
          <p:cNvSpPr txBox="1"/>
          <p:nvPr/>
        </p:nvSpPr>
        <p:spPr>
          <a:xfrm>
            <a:off x="60350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22-sep</a:t>
            </a:r>
            <a:endParaRPr lang="en-US" sz="1200" dirty="0"/>
          </a:p>
        </p:txBody>
      </p:sp>
      <p:sp>
        <p:nvSpPr>
          <p:cNvPr id="18" name="hito 22-sep"/>
          <p:cNvSpPr txBox="1"/>
          <p:nvPr/>
        </p:nvSpPr>
        <p:spPr>
          <a:xfrm>
            <a:off x="6035040" y="2514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Respuesta de SkillHQ</a:t>
            </a:r>
            <a:endParaRPr lang="en-US" sz="1300" dirty="0"/>
          </a:p>
        </p:txBody>
      </p:sp>
      <p:sp>
        <p:nvSpPr>
          <p:cNvPr id="19" name="detalle 22-sep"/>
          <p:cNvSpPr txBox="1"/>
          <p:nvPr/>
        </p:nvSpPr>
        <p:spPr>
          <a:xfrm>
            <a:off x="6035040" y="32461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Starter = merchant of record, PayPal en euros, tope 50 €. No sirve para el catálogo a esta tarifa.</a:t>
            </a:r>
            <a:endParaRPr lang="en-US" sz="1100" dirty="0"/>
          </a:p>
        </p:txBody>
      </p:sp>
      <p:sp>
        <p:nvSpPr>
          <p:cNvPr id="20" name="nodo 24-sep → 13-oct"/>
          <p:cNvSpPr/>
          <p:nvPr/>
        </p:nvSpPr>
        <p:spPr>
          <a:xfrm>
            <a:off x="8156448" y="2011680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fecha 24-sep → 13-oct"/>
          <p:cNvSpPr txBox="1"/>
          <p:nvPr/>
        </p:nvSpPr>
        <p:spPr>
          <a:xfrm>
            <a:off x="78638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24-sep → 13-oct</a:t>
            </a:r>
            <a:endParaRPr lang="en-US" sz="1200" dirty="0"/>
          </a:p>
        </p:txBody>
      </p:sp>
      <p:sp>
        <p:nvSpPr>
          <p:cNvPr id="22" name="hito 24-sep → 13-oct"/>
          <p:cNvSpPr txBox="1"/>
          <p:nvPr/>
        </p:nvSpPr>
        <p:spPr>
          <a:xfrm>
            <a:off x="7863840" y="2514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Pasadas 3 y 4 de correo</a:t>
            </a:r>
            <a:endParaRPr lang="en-US" sz="1300" dirty="0"/>
          </a:p>
        </p:txBody>
      </p:sp>
      <p:sp>
        <p:nvSpPr>
          <p:cNvPr id="23" name="detalle 24-sep → 13-oct"/>
          <p:cNvSpPr txBox="1"/>
          <p:nvPr/>
        </p:nvSpPr>
        <p:spPr>
          <a:xfrm>
            <a:off x="7863840" y="32461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17 + 12 + 3 correos más, segunda búsqueda de buzones; Mercaderes dice no (12-oct); rebotes pasan a teléfono.</a:t>
            </a:r>
            <a:endParaRPr lang="en-US" sz="1100" dirty="0"/>
          </a:p>
        </p:txBody>
      </p:sp>
      <p:sp>
        <p:nvSpPr>
          <p:cNvPr id="24" name="nodo 14-oct"/>
          <p:cNvSpPr/>
          <p:nvPr/>
        </p:nvSpPr>
        <p:spPr>
          <a:xfrm>
            <a:off x="9985248" y="201168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fecha 14-oct"/>
          <p:cNvSpPr txBox="1"/>
          <p:nvPr/>
        </p:nvSpPr>
        <p:spPr>
          <a:xfrm>
            <a:off x="96926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14-oct</a:t>
            </a:r>
            <a:endParaRPr lang="en-US" sz="1200" dirty="0"/>
          </a:p>
        </p:txBody>
      </p:sp>
      <p:sp>
        <p:nvSpPr>
          <p:cNvPr id="26" name="hito 14-oct"/>
          <p:cNvSpPr txBox="1"/>
          <p:nvPr/>
        </p:nvSpPr>
        <p:spPr>
          <a:xfrm>
            <a:off x="9692640" y="2514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Camescom y lanzamiento</a:t>
            </a:r>
            <a:endParaRPr lang="en-US" sz="1300" dirty="0"/>
          </a:p>
        </p:txBody>
      </p:sp>
      <p:sp>
        <p:nvSpPr>
          <p:cNvPr id="27" name="detalle 14-oct"/>
          <p:cNvSpPr txBox="1"/>
          <p:nvPr/>
        </p:nvSpPr>
        <p:spPr>
          <a:xfrm>
            <a:off x="9692640" y="32461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Videollamada confirmada para el 15-oct. Textos de lanzamiento listos por canal con el orden de empuje invertido.</a:t>
            </a:r>
            <a:endParaRPr lang="en-US" sz="1100" dirty="0"/>
          </a:p>
        </p:txBody>
      </p:sp>
      <p:sp>
        <p:nvSpPr>
          <p:cNvPr id="28" name="lectura cronologia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lectura texto"/>
          <p:cNvSpPr txBox="1"/>
          <p:nvPr/>
        </p:nvSpPr>
        <p:spPr>
          <a:xfrm>
            <a:off x="822960" y="50292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Lectura.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Septiembre fue fábrica: tarifa, tienda, escaparate, entrega y canales quedaron cerrados en tres días. Octubre fue correo: cuatro pasadas, 133 envíos, dos noes. Lo que falta no es producto ni precio: es tráfico hacia la tienda y una cifra de cliente que enseñar.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Qué hemos aplicado: seis palancas comerciales, cuatro de ellas ya en marcha</a:t>
            </a:r>
            <a:endParaRPr lang="en-US" sz="2600" dirty="0"/>
          </a:p>
        </p:txBody>
      </p:sp>
      <p:sp>
        <p:nvSpPr>
          <p:cNvPr id="3" name="palanca Tienda Gumroad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palanca head Tienda Gumroad"/>
          <p:cNvSpPr txBox="1"/>
          <p:nvPr/>
        </p:nvSpPr>
        <p:spPr>
          <a:xfrm>
            <a:off x="777240" y="16002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Tienda Gumroad</a:t>
            </a:r>
            <a:endParaRPr lang="en-US" sz="1350" dirty="0"/>
          </a:p>
        </p:txBody>
      </p:sp>
      <p:sp>
        <p:nvSpPr>
          <p:cNvPr id="5" name="pill"/>
          <p:cNvSpPr/>
          <p:nvPr/>
        </p:nvSpPr>
        <p:spPr>
          <a:xfrm>
            <a:off x="2834640" y="1691640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pill text"/>
          <p:cNvSpPr txBox="1"/>
          <p:nvPr/>
        </p:nvSpPr>
        <p:spPr>
          <a:xfrm>
            <a:off x="283464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En marcha</a:t>
            </a:r>
            <a:endParaRPr lang="en-US" sz="950" dirty="0"/>
          </a:p>
        </p:txBody>
      </p:sp>
      <p:sp>
        <p:nvSpPr>
          <p:cNvPr id="7" name="palanca body Tienda Gumroad"/>
          <p:cNvSpPr txBox="1"/>
          <p:nvPr/>
        </p:nvSpPr>
        <p:spPr>
          <a:xfrm>
            <a:off x="777240" y="21488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15 productos, slugs iguales a las fichas públicas. Entrega por zip (desviación declarada, decisión 8). Pendiente: identidad, W-8BEN, compra de prueba a 1 USD, Discover apagado.</a:t>
            </a:r>
            <a:endParaRPr lang="en-US" sz="1100" dirty="0"/>
          </a:p>
        </p:txBody>
      </p:sp>
      <p:sp>
        <p:nvSpPr>
          <p:cNvPr id="8" name="palanca Escaparate octava-skills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palanca head Escaparate octava-skills"/>
          <p:cNvSpPr txBox="1"/>
          <p:nvPr/>
        </p:nvSpPr>
        <p:spPr>
          <a:xfrm>
            <a:off x="4526280" y="16002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Escaparate octava-skills</a:t>
            </a:r>
            <a:endParaRPr lang="en-US" sz="1350" dirty="0"/>
          </a:p>
        </p:txBody>
      </p:sp>
      <p:sp>
        <p:nvSpPr>
          <p:cNvPr id="10" name="pill"/>
          <p:cNvSpPr/>
          <p:nvPr/>
        </p:nvSpPr>
        <p:spPr>
          <a:xfrm>
            <a:off x="6583680" y="1691640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pill text"/>
          <p:cNvSpPr txBox="1"/>
          <p:nvPr/>
        </p:nvSpPr>
        <p:spPr>
          <a:xfrm>
            <a:off x="658368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En marcha</a:t>
            </a:r>
            <a:endParaRPr lang="en-US" sz="950" dirty="0"/>
          </a:p>
        </p:txBody>
      </p:sp>
      <p:sp>
        <p:nvSpPr>
          <p:cNvPr id="12" name="palanca body Escaparate octava-skills"/>
          <p:cNvSpPr txBox="1"/>
          <p:nvPr/>
        </p:nvSpPr>
        <p:spPr>
          <a:xfrm>
            <a:off x="4526280" y="21488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17 fichas con precio y límites, marketplace de plugins y skill gratuita apertura-cierre-turno. Una estrella. Faltan los topics del repositorio.</a:t>
            </a:r>
            <a:endParaRPr lang="en-US" sz="1100" dirty="0"/>
          </a:p>
        </p:txBody>
      </p:sp>
      <p:sp>
        <p:nvSpPr>
          <p:cNvPr id="13" name="palanca Correo en frío CDMX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palanca head Correo en frío CDMX"/>
          <p:cNvSpPr txBox="1"/>
          <p:nvPr/>
        </p:nvSpPr>
        <p:spPr>
          <a:xfrm>
            <a:off x="8275320" y="16002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Correo en frío CDMX</a:t>
            </a:r>
            <a:endParaRPr lang="en-US" sz="1350" dirty="0"/>
          </a:p>
        </p:txBody>
      </p:sp>
      <p:sp>
        <p:nvSpPr>
          <p:cNvPr id="15" name="pill"/>
          <p:cNvSpPr/>
          <p:nvPr/>
        </p:nvSpPr>
        <p:spPr>
          <a:xfrm>
            <a:off x="10332720" y="1691640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ill text"/>
          <p:cNvSpPr txBox="1"/>
          <p:nvPr/>
        </p:nvSpPr>
        <p:spPr>
          <a:xfrm>
            <a:off x="1033272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Agotado</a:t>
            </a:r>
            <a:endParaRPr lang="en-US" sz="950" dirty="0"/>
          </a:p>
        </p:txBody>
      </p:sp>
      <p:sp>
        <p:nvSpPr>
          <p:cNvPr id="17" name="palanca body Correo en frío CDMX"/>
          <p:cNvSpPr txBox="1"/>
          <p:nvPr/>
        </p:nvSpPr>
        <p:spPr>
          <a:xfrm>
            <a:off x="8275320" y="21488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Tres campañas (7-sep, 15-16-sep, CDMX-100) y cuatro pasadas. 133 envíos, 2 respuestas negativas. 32 borradores de Centro y hoteles listos para la ola del 19-oct.</a:t>
            </a:r>
            <a:endParaRPr lang="en-US" sz="1100" dirty="0"/>
          </a:p>
        </p:txBody>
      </p:sp>
      <p:sp>
        <p:nvSpPr>
          <p:cNvPr id="18" name="palanca Marketplaces de skills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palanca head Marketplaces de skills"/>
          <p:cNvSpPr txBox="1"/>
          <p:nvPr/>
        </p:nvSpPr>
        <p:spPr>
          <a:xfrm>
            <a:off x="777240" y="3931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Marketplaces de skills</a:t>
            </a:r>
            <a:endParaRPr lang="en-US" sz="1350" dirty="0"/>
          </a:p>
        </p:txBody>
      </p:sp>
      <p:sp>
        <p:nvSpPr>
          <p:cNvPr id="20" name="pill"/>
          <p:cNvSpPr/>
          <p:nvPr/>
        </p:nvSpPr>
        <p:spPr>
          <a:xfrm>
            <a:off x="2834640" y="4023360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ill text"/>
          <p:cNvSpPr txBox="1"/>
          <p:nvPr/>
        </p:nvSpPr>
        <p:spPr>
          <a:xfrm>
            <a:off x="283464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Cerrado / sin canal</a:t>
            </a:r>
            <a:endParaRPr lang="en-US" sz="950" dirty="0"/>
          </a:p>
        </p:txBody>
      </p:sp>
      <p:sp>
        <p:nvSpPr>
          <p:cNvPr id="22" name="palanca body Marketplaces de skills"/>
          <p:cNvSpPr txBox="1"/>
          <p:nvPr/>
        </p:nvSpPr>
        <p:spPr>
          <a:xfrm>
            <a:off x="777240" y="4480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SkillHQ: tope 50 €, PayPal. myClaude: su correo no recibe. claudemarketplaces: consulta retenida. Ninguno vale para la tarifa.</a:t>
            </a:r>
            <a:endParaRPr lang="en-US" sz="1100" dirty="0"/>
          </a:p>
        </p:txBody>
      </p:sp>
      <p:sp>
        <p:nvSpPr>
          <p:cNvPr id="23" name="palanca Entrega por acceso (Polar)"/>
          <p:cNvSpPr/>
          <p:nvPr/>
        </p:nvSpPr>
        <p:spPr>
          <a:xfrm>
            <a:off x="429768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palanca head Entrega por acceso (Polar)"/>
          <p:cNvSpPr txBox="1"/>
          <p:nvPr/>
        </p:nvSpPr>
        <p:spPr>
          <a:xfrm>
            <a:off x="4526280" y="3931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Entrega por acceso (Polar)</a:t>
            </a:r>
            <a:endParaRPr lang="en-US" sz="1350" dirty="0"/>
          </a:p>
        </p:txBody>
      </p:sp>
      <p:sp>
        <p:nvSpPr>
          <p:cNvPr id="25" name="pill"/>
          <p:cNvSpPr/>
          <p:nvPr/>
        </p:nvSpPr>
        <p:spPr>
          <a:xfrm>
            <a:off x="6583680" y="4023360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pill text"/>
          <p:cNvSpPr txBox="1"/>
          <p:nvPr/>
        </p:nvSpPr>
        <p:spPr>
          <a:xfrm>
            <a:off x="658368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Sandbox</a:t>
            </a:r>
            <a:endParaRPr lang="en-US" sz="950" dirty="0"/>
          </a:p>
        </p:txBody>
      </p:sp>
      <p:sp>
        <p:nvSpPr>
          <p:cNvPr id="27" name="palanca body Entrega por acceso (Polar)"/>
          <p:cNvSpPr txBox="1"/>
          <p:nvPr/>
        </p:nvSpPr>
        <p:spPr>
          <a:xfrm>
            <a:off x="4526280" y="4480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zeus-entrega privado con 15 productos. Falta probar en sandbox que el acceso se concede y se revoca, y abrir producción con Stripe.</a:t>
            </a:r>
            <a:endParaRPr lang="en-US" sz="1100" dirty="0"/>
          </a:p>
        </p:txBody>
      </p:sp>
      <p:sp>
        <p:nvSpPr>
          <p:cNvPr id="28" name="palanca Redes y comunidades"/>
          <p:cNvSpPr/>
          <p:nvPr/>
        </p:nvSpPr>
        <p:spPr>
          <a:xfrm>
            <a:off x="804672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palanca head Redes y comunidades"/>
          <p:cNvSpPr txBox="1"/>
          <p:nvPr/>
        </p:nvSpPr>
        <p:spPr>
          <a:xfrm>
            <a:off x="8275320" y="3931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Redes y comunidades</a:t>
            </a:r>
            <a:endParaRPr lang="en-US" sz="1350" dirty="0"/>
          </a:p>
        </p:txBody>
      </p:sp>
      <p:sp>
        <p:nvSpPr>
          <p:cNvPr id="30" name="pill"/>
          <p:cNvSpPr/>
          <p:nvPr/>
        </p:nvSpPr>
        <p:spPr>
          <a:xfrm>
            <a:off x="10332720" y="4023360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pill text"/>
          <p:cNvSpPr txBox="1"/>
          <p:nvPr/>
        </p:nvSpPr>
        <p:spPr>
          <a:xfrm>
            <a:off x="1033272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Sin empezar</a:t>
            </a:r>
            <a:endParaRPr lang="en-US" sz="950" dirty="0"/>
          </a:p>
        </p:txBody>
      </p:sp>
      <p:sp>
        <p:nvSpPr>
          <p:cNvPr id="32" name="palanca body Redes y comunidades"/>
          <p:cNvSpPr txBox="1"/>
          <p:nvPr/>
        </p:nvSpPr>
        <p:spPr>
          <a:xfrm>
            <a:off x="8275320" y="4480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Textos listos para r/ClaudeAI, r/ClaudeCode, X, LinkedIn, r/DJs, Indie Hackers. Cero publicados. Es la palanca más barata y la única no intentada.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Qué han dicho: dos noes educados, un canal que no sirve, uno que no contesta y una puerta que se abre</a:t>
            </a:r>
            <a:endParaRPr lang="en-US" sz="2600" dirty="0"/>
          </a:p>
        </p:txBody>
      </p:sp>
      <p:sp>
        <p:nvSpPr>
          <p:cNvPr id="3" name="cita Grupo RosaNegra"/>
          <p:cNvSpPr/>
          <p:nvPr/>
        </p:nvSpPr>
        <p:spPr>
          <a:xfrm>
            <a:off x="548640" y="137160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cita dot Grupo RosaNegra"/>
          <p:cNvSpPr/>
          <p:nvPr/>
        </p:nvSpPr>
        <p:spPr>
          <a:xfrm>
            <a:off x="749808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ita who Grupo RosaNegra"/>
          <p:cNvSpPr txBox="1"/>
          <p:nvPr/>
        </p:nvSpPr>
        <p:spPr>
          <a:xfrm>
            <a:off x="1051560" y="1481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Grupo RosaNegra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  · 7 y 16-sep</a:t>
            </a:r>
            <a:endParaRPr lang="en-US" sz="1250" dirty="0"/>
          </a:p>
        </p:txBody>
      </p:sp>
      <p:sp>
        <p:nvSpPr>
          <p:cNvPr id="6" name="cita texto Grupo RosaNegra"/>
          <p:cNvSpPr txBox="1"/>
          <p:nvPr/>
        </p:nvSpPr>
        <p:spPr>
          <a:xfrm>
            <a:off x="1051560" y="1847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«Vamos a canalizar tu solicitud… por procesos internos no facilitamos el contacto de operaciones; si es de su interés, el área se pondrá en contacto.»</a:t>
            </a:r>
            <a:endParaRPr lang="en-US" sz="1050" dirty="0"/>
          </a:p>
        </p:txBody>
      </p:sp>
      <p:sp>
        <p:nvSpPr>
          <p:cNvPr id="7" name="cita lectura Grupo RosaNegra"/>
          <p:cNvSpPr txBox="1"/>
          <p:nvPr/>
        </p:nvSpPr>
        <p:spPr>
          <a:xfrm>
            <a:off x="1051560" y="2395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Contact center. Tres intentos; canal agotado. Si se insiste, por LinkedIn a la persona de operaciones.</a:t>
            </a:r>
            <a:endParaRPr lang="en-US" sz="950" dirty="0"/>
          </a:p>
        </p:txBody>
      </p:sp>
      <p:sp>
        <p:nvSpPr>
          <p:cNvPr id="8" name="cita Mercaderes"/>
          <p:cNvSpPr/>
          <p:nvPr/>
        </p:nvSpPr>
        <p:spPr>
          <a:xfrm>
            <a:off x="6172200" y="137160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cita dot Mercaderes"/>
          <p:cNvSpPr/>
          <p:nvPr/>
        </p:nvSpPr>
        <p:spPr>
          <a:xfrm>
            <a:off x="6373368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ita who Mercaderes"/>
          <p:cNvSpPr txBox="1"/>
          <p:nvPr/>
        </p:nvSpPr>
        <p:spPr>
          <a:xfrm>
            <a:off x="6675120" y="1481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Mercaderes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  · 12-oct</a:t>
            </a:r>
            <a:endParaRPr lang="en-US" sz="1250" dirty="0"/>
          </a:p>
        </p:txBody>
      </p:sp>
      <p:sp>
        <p:nvSpPr>
          <p:cNvPr id="11" name="cita texto Mercaderes"/>
          <p:cNvSpPr txBox="1"/>
          <p:nvPr/>
        </p:nvSpPr>
        <p:spPr>
          <a:xfrm>
            <a:off x="6675120" y="1847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«No nos encontramos interesados. Agradecemos aun así su propuesta.»</a:t>
            </a:r>
            <a:endParaRPr lang="en-US" sz="1050" dirty="0"/>
          </a:p>
        </p:txBody>
      </p:sp>
      <p:sp>
        <p:nvSpPr>
          <p:cNvPr id="12" name="cita lectura Mercaderes"/>
          <p:cNvSpPr txBox="1"/>
          <p:nvPr/>
        </p:nvSpPr>
        <p:spPr>
          <a:xfrm>
            <a:off x="6675120" y="2395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Único no explícito de ~130 cuentas. Se contestó con gracias y cierre el 14-oct. Cuenta fría seis meses.</a:t>
            </a:r>
            <a:endParaRPr lang="en-US" sz="950" dirty="0"/>
          </a:p>
        </p:txBody>
      </p:sp>
      <p:sp>
        <p:nvSpPr>
          <p:cNvPr id="13" name="cita SkillHQ (Mirek)"/>
          <p:cNvSpPr/>
          <p:nvPr/>
        </p:nvSpPr>
        <p:spPr>
          <a:xfrm>
            <a:off x="548640" y="3035808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cita dot SkillHQ (Mirek)"/>
          <p:cNvSpPr/>
          <p:nvPr/>
        </p:nvSpPr>
        <p:spPr>
          <a:xfrm>
            <a:off x="749808" y="3236976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cita who SkillHQ (Mirek)"/>
          <p:cNvSpPr txBox="1"/>
          <p:nvPr/>
        </p:nvSpPr>
        <p:spPr>
          <a:xfrm>
            <a:off x="1051560" y="31455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SkillHQ (Mirek)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  · 22-sep</a:t>
            </a:r>
            <a:endParaRPr lang="en-US" sz="1250" dirty="0"/>
          </a:p>
        </p:txBody>
      </p:sp>
      <p:sp>
        <p:nvSpPr>
          <p:cNvPr id="16" name="cita texto SkillHQ (Mirek)"/>
          <p:cNvSpPr txBox="1"/>
          <p:nvPr/>
        </p:nvSpPr>
        <p:spPr>
          <a:xfrm>
            <a:off x="1051560" y="35112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«For Starter sales, SkillHQ acts as the merchant of record… payouts to Mexico via verified PayPal in EUR… supported range 2–50 €.»</a:t>
            </a:r>
            <a:endParaRPr lang="en-US" sz="1050" dirty="0"/>
          </a:p>
        </p:txBody>
      </p:sp>
      <p:sp>
        <p:nvSpPr>
          <p:cNvPr id="17" name="cita lectura SkillHQ (Mirek)"/>
          <p:cNvSpPr txBox="1"/>
          <p:nvPr/>
        </p:nvSpPr>
        <p:spPr>
          <a:xfrm>
            <a:off x="1051560" y="40599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Respuesta clara y útil: descarta el canal para el catálogo. El 14-oct se le pidió disculpa por los dos correos mal formados del 25-sep.</a:t>
            </a:r>
            <a:endParaRPr lang="en-US" sz="950" dirty="0"/>
          </a:p>
        </p:txBody>
      </p:sp>
      <p:sp>
        <p:nvSpPr>
          <p:cNvPr id="18" name="cita myClaude"/>
          <p:cNvSpPr/>
          <p:nvPr/>
        </p:nvSpPr>
        <p:spPr>
          <a:xfrm>
            <a:off x="6172200" y="3035808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cita dot myClaude"/>
          <p:cNvSpPr/>
          <p:nvPr/>
        </p:nvSpPr>
        <p:spPr>
          <a:xfrm>
            <a:off x="6373368" y="3236976"/>
            <a:ext cx="201168" cy="20116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ita who myClaude"/>
          <p:cNvSpPr txBox="1"/>
          <p:nvPr/>
        </p:nvSpPr>
        <p:spPr>
          <a:xfrm>
            <a:off x="6675120" y="31455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myClaude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  · 20-sep</a:t>
            </a:r>
            <a:endParaRPr lang="en-US" sz="1250" dirty="0"/>
          </a:p>
        </p:txBody>
      </p:sp>
      <p:sp>
        <p:nvSpPr>
          <p:cNvPr id="21" name="cita texto myClaude"/>
          <p:cNvSpPr txBox="1"/>
          <p:nvPr/>
        </p:nvSpPr>
        <p:spPr>
          <a:xfrm>
            <a:off x="6675120" y="35112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Dos rebotes: «el servidor de correo del dominio no acepta conexiones» (72 h de reintentos).</a:t>
            </a:r>
            <a:endParaRPr lang="en-US" sz="1050" dirty="0"/>
          </a:p>
        </p:txBody>
      </p:sp>
      <p:sp>
        <p:nvSpPr>
          <p:cNvPr id="22" name="cita lectura myClaude"/>
          <p:cNvSpPr txBox="1"/>
          <p:nvPr/>
        </p:nvSpPr>
        <p:spPr>
          <a:xfrm>
            <a:off x="6675120" y="40599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No es dirección equivocada: el dominio no recibe. Queda issue en GitHub o X, solo si se quiere.</a:t>
            </a:r>
            <a:endParaRPr lang="en-US" sz="950" dirty="0"/>
          </a:p>
        </p:txBody>
      </p:sp>
      <p:sp>
        <p:nvSpPr>
          <p:cNvPr id="23" name="cita Camescom (Fernanda / Andrea)"/>
          <p:cNvSpPr/>
          <p:nvPr/>
        </p:nvSpPr>
        <p:spPr>
          <a:xfrm>
            <a:off x="548640" y="4700016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cita dot Camescom (Fernanda / Andrea)"/>
          <p:cNvSpPr/>
          <p:nvPr/>
        </p:nvSpPr>
        <p:spPr>
          <a:xfrm>
            <a:off x="749808" y="4901184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cita who Camescom (Fernanda / Andrea)"/>
          <p:cNvSpPr txBox="1"/>
          <p:nvPr/>
        </p:nvSpPr>
        <p:spPr>
          <a:xfrm>
            <a:off x="1051560" y="48097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Camescom (Fernanda / Andrea)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  · 14-oct</a:t>
            </a:r>
            <a:endParaRPr lang="en-US" sz="1250" dirty="0"/>
          </a:p>
        </p:txBody>
      </p:sp>
      <p:sp>
        <p:nvSpPr>
          <p:cNvPr id="26" name="cita texto Camescom (Fernanda / Andrea)"/>
          <p:cNvSpPr txBox="1"/>
          <p:nvPr/>
        </p:nvSpPr>
        <p:spPr>
          <a:xfrm>
            <a:off x="1051560" y="51755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«¿Mañana tienes disponibilidad a las 9:00 para que nos reunamos virtualmente? Nos gustaría conocer más de tu empresa.»</a:t>
            </a:r>
            <a:endParaRPr lang="en-US" sz="1050" dirty="0"/>
          </a:p>
        </p:txBody>
      </p:sp>
      <p:sp>
        <p:nvSpPr>
          <p:cNvPr id="27" name="cita lectura Camescom (Fernanda / Andrea)"/>
          <p:cNvSpPr txBox="1"/>
          <p:nvPr/>
        </p:nvSpPr>
        <p:spPr>
          <a:xfrm>
            <a:off x="1051560" y="57241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Primera organización que pide reunión. Objetivo: cuota por escrito, calendario de eventos, acceso a socios restauranteros. No se firma nada.</a:t>
            </a:r>
            <a:endParaRPr lang="en-US" sz="950" dirty="0"/>
          </a:p>
        </p:txBody>
      </p:sp>
      <p:sp>
        <p:nvSpPr>
          <p:cNvPr id="28" name="cita ~30 buzones de restaurantes"/>
          <p:cNvSpPr/>
          <p:nvPr/>
        </p:nvSpPr>
        <p:spPr>
          <a:xfrm>
            <a:off x="6172200" y="4700016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cita dot ~30 buzones de restaurantes"/>
          <p:cNvSpPr/>
          <p:nvPr/>
        </p:nvSpPr>
        <p:spPr>
          <a:xfrm>
            <a:off x="6373368" y="4901184"/>
            <a:ext cx="201168" cy="20116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cita who ~30 buzones de restaurantes"/>
          <p:cNvSpPr txBox="1"/>
          <p:nvPr/>
        </p:nvSpPr>
        <p:spPr>
          <a:xfrm>
            <a:off x="6675120" y="48097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~30 buzones de restaurantes</a:t>
            </a:r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  · sep–oct</a:t>
            </a:r>
            <a:endParaRPr lang="en-US" sz="1250" dirty="0"/>
          </a:p>
        </p:txBody>
      </p:sp>
      <p:sp>
        <p:nvSpPr>
          <p:cNvPr id="31" name="cita texto ~30 buzones de restaurantes"/>
          <p:cNvSpPr txBox="1"/>
          <p:nvPr/>
        </p:nvSpPr>
        <p:spPr>
          <a:xfrm>
            <a:off x="6675120" y="51755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Rebotes: dirección inexistente, buzón lleno, dominio mal escrito o cambiado (Pujol remite a reservaciones@).</a:t>
            </a:r>
            <a:endParaRPr lang="en-US" sz="1050" dirty="0"/>
          </a:p>
        </p:txBody>
      </p:sp>
      <p:sp>
        <p:nvSpPr>
          <p:cNvPr id="32" name="cita lectura ~30 buzones de restaurantes"/>
          <p:cNvSpPr txBox="1"/>
          <p:nvPr/>
        </p:nvSpPr>
        <p:spPr>
          <a:xfrm>
            <a:off x="6675120" y="57241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El 23 % de los correos no llegó. Confirma la regla CDMX-100: solo buzón leído en dominio oficial; lo demás, WhatsApp o carta.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El embudo del correo en frío: de 133 envíos a cero visitas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de los correos rebotó"/>
          <p:cNvSpPr/>
          <p:nvPr/>
        </p:nvSpPr>
        <p:spPr>
          <a:xfrm>
            <a:off x="7589520" y="137160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insight n de los correos rebotó"/>
          <p:cNvSpPr txBox="1"/>
          <p:nvPr/>
        </p:nvSpPr>
        <p:spPr>
          <a:xfrm>
            <a:off x="7772400" y="1481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23 %</a:t>
            </a:r>
            <a:endParaRPr lang="en-US" sz="2800" dirty="0"/>
          </a:p>
        </p:txBody>
      </p:sp>
      <p:sp>
        <p:nvSpPr>
          <p:cNvPr id="6" name="insight l de los correos rebotó"/>
          <p:cNvSpPr txBox="1"/>
          <p:nvPr/>
        </p:nvSpPr>
        <p:spPr>
          <a:xfrm>
            <a:off x="9144000" y="15361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 los correos rebotó</a:t>
            </a:r>
            <a:endParaRPr lang="en-US" sz="1200" dirty="0"/>
          </a:p>
        </p:txBody>
      </p:sp>
      <p:sp>
        <p:nvSpPr>
          <p:cNvPr id="7" name="insight b de los correos rebotó"/>
          <p:cNvSpPr txBox="1"/>
          <p:nvPr/>
        </p:nvSpPr>
        <p:spPr>
          <a:xfrm>
            <a:off x="7772400" y="21214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Direcciones inferidas o cambiadas. La regla nueva (solo buzón leído en dominio oficial) ya está en CDMX-100.</a:t>
            </a:r>
            <a:endParaRPr lang="en-US" sz="1000" dirty="0"/>
          </a:p>
        </p:txBody>
      </p:sp>
      <p:sp>
        <p:nvSpPr>
          <p:cNvPr id="8" name="insight de los entregados respondió"/>
          <p:cNvSpPr/>
          <p:nvPr/>
        </p:nvSpPr>
        <p:spPr>
          <a:xfrm>
            <a:off x="7589520" y="2999232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insight n de los entregados respondió"/>
          <p:cNvSpPr txBox="1"/>
          <p:nvPr/>
        </p:nvSpPr>
        <p:spPr>
          <a:xfrm>
            <a:off x="7772400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1,9 %</a:t>
            </a:r>
            <a:endParaRPr lang="en-US" sz="2800" dirty="0"/>
          </a:p>
        </p:txBody>
      </p:sp>
      <p:sp>
        <p:nvSpPr>
          <p:cNvPr id="10" name="insight l de los entregados respondió"/>
          <p:cNvSpPr txBox="1"/>
          <p:nvPr/>
        </p:nvSpPr>
        <p:spPr>
          <a:xfrm>
            <a:off x="9144000" y="31638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 los entregados respondió</a:t>
            </a:r>
            <a:endParaRPr lang="en-US" sz="1200" dirty="0"/>
          </a:p>
        </p:txBody>
      </p:sp>
      <p:sp>
        <p:nvSpPr>
          <p:cNvPr id="11" name="insight b de los entregados respondió"/>
          <p:cNvSpPr txBox="1"/>
          <p:nvPr/>
        </p:nvSpPr>
        <p:spPr>
          <a:xfrm>
            <a:off x="7772400" y="37490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Y el 100 % de las respuestas fue no. El correo en frío a restaurantes está agotado como canal de apertura.</a:t>
            </a:r>
            <a:endParaRPr lang="en-US" sz="1000" dirty="0"/>
          </a:p>
        </p:txBody>
      </p:sp>
      <p:sp>
        <p:nvSpPr>
          <p:cNvPr id="12" name="insight visitas en 38 días"/>
          <p:cNvSpPr/>
          <p:nvPr/>
        </p:nvSpPr>
        <p:spPr>
          <a:xfrm>
            <a:off x="7589520" y="4626864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insight n visitas en 38 días"/>
          <p:cNvSpPr txBox="1"/>
          <p:nvPr/>
        </p:nvSpPr>
        <p:spPr>
          <a:xfrm>
            <a:off x="7772400" y="473659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insight l visitas en 38 días"/>
          <p:cNvSpPr txBox="1"/>
          <p:nvPr/>
        </p:nvSpPr>
        <p:spPr>
          <a:xfrm>
            <a:off x="9144000" y="47914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visitas en 38 días</a:t>
            </a:r>
            <a:endParaRPr lang="en-US" sz="1200" dirty="0"/>
          </a:p>
        </p:txBody>
      </p:sp>
      <p:sp>
        <p:nvSpPr>
          <p:cNvPr id="15" name="insight b visitas en 38 días"/>
          <p:cNvSpPr txBox="1"/>
          <p:nvPr/>
        </p:nvSpPr>
        <p:spPr>
          <a:xfrm>
            <a:off x="7772400" y="53766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El correo abre la puerta; el WhatsApp pone la fecha. Las ~45 cuentas que solo tienen teléfono no se han llamado.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Canales: dónde está cada uno y qué le falta para producir una venta</a:t>
            </a:r>
            <a:endParaRPr lang="en-US" sz="2600" dirty="0"/>
          </a:p>
        </p:txBody>
      </p:sp>
      <p:graphicFrame>
        <p:nvGraphicFramePr>
          <p:cNvPr id="9" name="tabla cana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1097280"/>
                <a:gridCol w="27432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a 14-oct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Siguiente paso · dueño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Gumroad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sueltos y packs (49–249 €)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ventas. Identidad, cobro a México y W-8BEN sin confirmar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de prueba a 1 USD · Discover apagado · Sergio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octava-skills (GitHub)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fichas + plugin gratuito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estrella. Ningún tráfico empujado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Topics del repo · primer post en r/ClaudeAI · Sergio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 en frío CDMX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 Exprés → Instalación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 envíos · 2 noes · 0 visitas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 5 Centro (32 borradores) el lun 19-oct · luego WhatsApp, no más correo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Camescom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Instalación de hostelería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Reunión 15-oct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Videollamada confirmada 9:00 CDMX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por escrito, calendario, directorio de socios · Sergio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 + zeus-entrega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suelto por acceso revocable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 privado listo; entrega no probada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Probar acceso/revocación en sandbox (20 min) · producción solo si Gumroad falla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SkillHQ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Piezas sueltas ≤ 50 €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Tope 50 €, PayPal. Disculpa enviada 14-oct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Nada, salvo decisión expresa de vender sueltas a 49 € por PayPal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myClaude · claudemarketplaces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canal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 rebota · consulta retenida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en GitHub o X, solo si se quiere un segundo escaparate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Reddit · X · LinkedIn · Indie Hackers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CONTEXTO, cobro, CABINA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empezar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Textos listos desde el 14-oct; 0 publicados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post por canal esta semana, en el orden de LANZAMIENTO-COPIA · Sergio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Diagnóstico: por qué no vende todavía, y por qué no es el producto ni el precio</a:t>
            </a:r>
            <a:endParaRPr lang="en-US" sz="2600" dirty="0"/>
          </a:p>
        </p:txBody>
      </p:sp>
      <p:sp>
        <p:nvSpPr>
          <p:cNvPr id="3" name="causa Nadie ve el catálogo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num 1"/>
          <p:cNvSpPr/>
          <p:nvPr/>
        </p:nvSpPr>
        <p:spPr>
          <a:xfrm>
            <a:off x="777240" y="17190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 text 1"/>
          <p:cNvSpPr txBox="1"/>
          <p:nvPr/>
        </p:nvSpPr>
        <p:spPr>
          <a:xfrm>
            <a:off x="77724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causa head Nadie ve el catálogo"/>
          <p:cNvSpPr txBox="1"/>
          <p:nvPr/>
        </p:nvSpPr>
        <p:spPr>
          <a:xfrm>
            <a:off x="1325880" y="1645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Nadie ve el catálogo</a:t>
            </a:r>
            <a:endParaRPr lang="en-US" sz="1500" dirty="0"/>
          </a:p>
        </p:txBody>
      </p:sp>
      <p:sp>
        <p:nvSpPr>
          <p:cNvPr id="7" name="causa body Nadie ve el catálogo"/>
          <p:cNvSpPr txBox="1"/>
          <p:nvPr/>
        </p:nvSpPr>
        <p:spPr>
          <a:xfrm>
            <a:off x="1325880" y="22860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La estrategia de canales está escrita desde el 17-sep y ningún post ha salido. Una tienda sin tráfico no vende por buena que sea la ficha. Coste de corregirlo: cero euros y dos horas.</a:t>
            </a:r>
            <a:endParaRPr lang="en-US" sz="1150" dirty="0"/>
          </a:p>
        </p:txBody>
      </p:sp>
      <p:sp>
        <p:nvSpPr>
          <p:cNvPr id="8" name="causa El orden de empuje estaba al revés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num 2"/>
          <p:cNvSpPr/>
          <p:nvPr/>
        </p:nvSpPr>
        <p:spPr>
          <a:xfrm>
            <a:off x="6400800" y="17190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 text 2"/>
          <p:cNvSpPr txBox="1"/>
          <p:nvPr/>
        </p:nvSpPr>
        <p:spPr>
          <a:xfrm>
            <a:off x="64008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causa head El orden de empuje estaba al revés"/>
          <p:cNvSpPr txBox="1"/>
          <p:nvPr/>
        </p:nvSpPr>
        <p:spPr>
          <a:xfrm>
            <a:off x="6949440" y="1645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 orden de empuje estaba al revés</a:t>
            </a:r>
            <a:endParaRPr lang="en-US" sz="1500" dirty="0"/>
          </a:p>
        </p:txBody>
      </p:sp>
      <p:sp>
        <p:nvSpPr>
          <p:cNvPr id="12" name="causa body El orden de empuje estaba al revés"/>
          <p:cNvSpPr txBox="1"/>
          <p:nvPr/>
        </p:nvSpPr>
        <p:spPr>
          <a:xfrm>
            <a:off x="6949440" y="22860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 empezó por restaurantes (la intersección más pequeña con usuarios de Claude) y se dejó para el final a quien ya usa Claude Code y teme perder su proyecto: PACK CONTEXTO. El 14-oct se corrigió en papel; falta ejecutarlo.</a:t>
            </a:r>
            <a:endParaRPr lang="en-US" sz="1150" dirty="0"/>
          </a:p>
        </p:txBody>
      </p:sp>
      <p:sp>
        <p:nvSpPr>
          <p:cNvPr id="13" name="causa Sin prueba social no hay argumento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num 3"/>
          <p:cNvSpPr/>
          <p:nvPr/>
        </p:nvSpPr>
        <p:spPr>
          <a:xfrm>
            <a:off x="777240" y="4050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num text 3"/>
          <p:cNvSpPr txBox="1"/>
          <p:nvPr/>
        </p:nvSpPr>
        <p:spPr>
          <a:xfrm>
            <a:off x="77724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causa head Sin prueba social no hay argumento"/>
          <p:cNvSpPr txBox="1"/>
          <p:nvPr/>
        </p:nvSpPr>
        <p:spPr>
          <a:xfrm>
            <a:off x="1325880" y="3977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Sin prueba social no hay argumento</a:t>
            </a:r>
            <a:endParaRPr lang="en-US" sz="1500" dirty="0"/>
          </a:p>
        </p:txBody>
      </p:sp>
      <p:sp>
        <p:nvSpPr>
          <p:cNvPr id="17" name="causa body Sin prueba social no hay argumento"/>
          <p:cNvSpPr txBox="1"/>
          <p:nvPr/>
        </p:nvSpPr>
        <p:spPr>
          <a:xfrm>
            <a:off x="1325880" y="461772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G2 en 0/17 y la fase 2 en 0/2. La doctrina prohíbe decir «probadas» y promete resultado cero. Sin una cifra de cliente, la visita y el post venden una promesa. Un DJ y una empresa con nombre lo resuelven.</a:t>
            </a:r>
            <a:endParaRPr lang="en-US" sz="1150" dirty="0"/>
          </a:p>
        </p:txBody>
      </p:sp>
      <p:sp>
        <p:nvSpPr>
          <p:cNvPr id="18" name="causa Riesgo de proceso: automatismos sin revisión"/>
          <p:cNvSpPr/>
          <p:nvPr/>
        </p:nvSpPr>
        <p:spPr>
          <a:xfrm>
            <a:off x="6172200" y="379476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num 4"/>
          <p:cNvSpPr/>
          <p:nvPr/>
        </p:nvSpPr>
        <p:spPr>
          <a:xfrm>
            <a:off x="6400800" y="4050792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num text 4"/>
          <p:cNvSpPr txBox="1"/>
          <p:nvPr/>
        </p:nvSpPr>
        <p:spPr>
          <a:xfrm>
            <a:off x="640080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causa head Riesgo de proceso: automatismos sin revisión"/>
          <p:cNvSpPr txBox="1"/>
          <p:nvPr/>
        </p:nvSpPr>
        <p:spPr>
          <a:xfrm>
            <a:off x="6949440" y="3977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Riesgo de proceso: automatismos sin revisión</a:t>
            </a:r>
            <a:endParaRPr lang="en-US" sz="1500" dirty="0"/>
          </a:p>
        </p:txBody>
      </p:sp>
      <p:sp>
        <p:nvSpPr>
          <p:cNvPr id="22" name="causa body Riesgo de proceso: automatismos sin revisión"/>
          <p:cNvSpPr txBox="1"/>
          <p:nvPr/>
        </p:nvSpPr>
        <p:spPr>
          <a:xfrm>
            <a:off x="6949440" y="461772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El 25-sep dos correos generados por una sesión salieron a SkillHQ con las skills incrustadas en base64 y un precio no decidido (12–18 €). Se pidió disculpa el 14-oct. Regla: ningún correo externo sale sin que Sergio lo lea.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Estatus de lo pendiente: diez cosas, con dueño y fecha</a:t>
            </a:r>
            <a:endParaRPr lang="en-US" sz="2600" dirty="0"/>
          </a:p>
        </p:txBody>
      </p:sp>
      <p:graphicFrame>
        <p:nvGraphicFramePr>
          <p:cNvPr id="11" name="tabla pendien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566160"/>
                <a:gridCol w="822960"/>
                <a:gridCol w="1554480"/>
                <a:gridCol w="960120"/>
                <a:gridCol w="3794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Videollamada Camescom: cuota por escrito, calendario, acceso a socios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15-oct 9:00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 e invitación aceptada; borrador de respuesta a Andrea en Gmail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Publicar el primer post (r/ClaudeAI) y el de LinkedIn con los textos listos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 semana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Textos en LANZAMIENTO-COPIA.md; topics del repo y Discover de Gumroad antes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2: un DJ y una empresa con nombre, gratis a cambio de la cifra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del 31-oct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de 2. Borradores escritos desde el 12-sep; vías en PROSPECCION.md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 5 Centro y hoteles: 32 borradores «90 minutos» listos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19-oct antes de 11:00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enviados el 14-oct rebotaron; los 32 restantes esperan al lunes por regla de la campaña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Gumroad: identidad, cobro desde México, W-8BEN, compra de prueba a 1 USD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 semana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Sergio sabe si está cerrado; sin ello no hay cobro aunque haya venta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 sandbox: probar que el acceso a zeus-entrega se concede y se revoca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 · cuando convenga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Producción solo si Gumroad no paga a México o se quiere el segundo canal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Anexo de inocuidad: revisión de abogado y técnico (receta-estandar)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la 1ª Completa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Redactado; sin revisar. Condición de entrega, no de venta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~45 cuentas de CDMX que solo tienen teléfono: WhatsApp M·1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 la ola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 se han llamado. Es el canal que la doctrina marca para poner fecha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 sobre SkillHQ (sueltas a 49 € por PayPal) y myClaude (issue en GitHub)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prisa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 mueve el objetivo; ambos documentados en CONSULTAS-PENDIENTES.md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Levantar G2 con la primera ejecución con datos de 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1ª venta o visita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cierra por decisión; lo cierra el mercado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Plan de 30 días para el mayor beneficio: cinco apuestas, en orden de valor esperado</a:t>
            </a:r>
            <a:endParaRPr lang="en-US" sz="2600" dirty="0"/>
          </a:p>
        </p:txBody>
      </p:sp>
      <p:sp>
        <p:nvSpPr>
          <p:cNvPr id="3" name="apuesta Distribución a quien ya usa Claude"/>
          <p:cNvSpPr/>
          <p:nvPr/>
        </p:nvSpPr>
        <p:spPr>
          <a:xfrm>
            <a:off x="548640" y="1371600"/>
            <a:ext cx="78638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num 1"/>
          <p:cNvSpPr/>
          <p:nvPr/>
        </p:nvSpPr>
        <p:spPr>
          <a:xfrm>
            <a:off x="731520" y="15819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 text 1"/>
          <p:cNvSpPr txBox="1"/>
          <p:nvPr/>
        </p:nvSpPr>
        <p:spPr>
          <a:xfrm>
            <a:off x="7315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apuesta head Distribución a quien ya usa Claude"/>
          <p:cNvSpPr txBox="1"/>
          <p:nvPr/>
        </p:nvSpPr>
        <p:spPr>
          <a:xfrm>
            <a:off x="1280160" y="14447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Distribución a quien ya usa Claude</a:t>
            </a:r>
            <a:endParaRPr lang="en-US" sz="1300" dirty="0"/>
          </a:p>
        </p:txBody>
      </p:sp>
      <p:sp>
        <p:nvSpPr>
          <p:cNvPr id="7" name="apuesta body Distribución a quien ya usa Claude"/>
          <p:cNvSpPr txBox="1"/>
          <p:nvPr/>
        </p:nvSpPr>
        <p:spPr>
          <a:xfrm>
            <a:off x="1280160" y="17373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PACK CONTEXTO (89 €) y sus dos sueltas en r/ClaudeAI, r/ClaudeCode, X y Discord. El comprador ya está dentro de la herramienta y teme perder meses de proyecto. Coste cero; primera venta posible en días.</a:t>
            </a:r>
            <a:endParaRPr lang="en-US" sz="950" dirty="0"/>
          </a:p>
        </p:txBody>
      </p:sp>
      <p:sp>
        <p:nvSpPr>
          <p:cNvPr id="8" name="apuesta obj Distribución a quien ya usa Claude"/>
          <p:cNvSpPr txBox="1"/>
          <p:nvPr/>
        </p:nvSpPr>
        <p:spPr>
          <a:xfrm>
            <a:off x="6400800" y="1444752"/>
            <a:ext cx="1874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Objetivo: 5 ventas / mes</a:t>
            </a:r>
            <a:endParaRPr lang="en-US" sz="1000" dirty="0"/>
          </a:p>
        </p:txBody>
      </p:sp>
      <p:sp>
        <p:nvSpPr>
          <p:cNvPr id="9" name="apuesta Cobro de cartera vencida en LinkedIn"/>
          <p:cNvSpPr/>
          <p:nvPr/>
        </p:nvSpPr>
        <p:spPr>
          <a:xfrm>
            <a:off x="548640" y="2267712"/>
            <a:ext cx="78638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num 2"/>
          <p:cNvSpPr/>
          <p:nvPr/>
        </p:nvSpPr>
        <p:spPr>
          <a:xfrm>
            <a:off x="731520" y="24780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 text 2"/>
          <p:cNvSpPr txBox="1"/>
          <p:nvPr/>
        </p:nvSpPr>
        <p:spPr>
          <a:xfrm>
            <a:off x="73152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apuesta head Cobro de cartera vencida en LinkedIn"/>
          <p:cNvSpPr txBox="1"/>
          <p:nvPr/>
        </p:nvSpPr>
        <p:spPr>
          <a:xfrm>
            <a:off x="1280160" y="23408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Cobro de cartera vencida en LinkedIn</a:t>
            </a:r>
            <a:endParaRPr lang="en-US" sz="1300" dirty="0"/>
          </a:p>
        </p:txBody>
      </p:sp>
      <p:sp>
        <p:nvSpPr>
          <p:cNvPr id="13" name="apuesta body Cobro de cartera vencida en LinkedIn"/>
          <p:cNvSpPr txBox="1"/>
          <p:nvPr/>
        </p:nvSpPr>
        <p:spPr>
          <a:xfrm>
            <a:off x="1280160" y="26334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Dolor con cifra (DSO, importe en riesgo), sector agnóstico, 79 €. Post propio + grupos de pymes y contadores. Es el producto con mejor relación precio/claridad.</a:t>
            </a:r>
            <a:endParaRPr lang="en-US" sz="950" dirty="0"/>
          </a:p>
        </p:txBody>
      </p:sp>
      <p:sp>
        <p:nvSpPr>
          <p:cNvPr id="14" name="apuesta obj Cobro de cartera vencida en LinkedIn"/>
          <p:cNvSpPr txBox="1"/>
          <p:nvPr/>
        </p:nvSpPr>
        <p:spPr>
          <a:xfrm>
            <a:off x="6400800" y="2340864"/>
            <a:ext cx="1874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Objetivo: 15 ventas / mes</a:t>
            </a:r>
            <a:endParaRPr lang="en-US" sz="1000" dirty="0"/>
          </a:p>
        </p:txBody>
      </p:sp>
      <p:sp>
        <p:nvSpPr>
          <p:cNvPr id="15" name="apuesta Camescom como puerta a la hostelería"/>
          <p:cNvSpPr/>
          <p:nvPr/>
        </p:nvSpPr>
        <p:spPr>
          <a:xfrm>
            <a:off x="548640" y="3163824"/>
            <a:ext cx="78638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num 3"/>
          <p:cNvSpPr/>
          <p:nvPr/>
        </p:nvSpPr>
        <p:spPr>
          <a:xfrm>
            <a:off x="731520" y="337413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num text 3"/>
          <p:cNvSpPr txBox="1"/>
          <p:nvPr/>
        </p:nvSpPr>
        <p:spPr>
          <a:xfrm>
            <a:off x="73152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apuesta head Camescom como puerta a la hostelería"/>
          <p:cNvSpPr txBox="1"/>
          <p:nvPr/>
        </p:nvSpPr>
        <p:spPr>
          <a:xfrm>
            <a:off x="1280160" y="32369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Camescom como puerta a la hostelería</a:t>
            </a:r>
            <a:endParaRPr lang="en-US" sz="1300" dirty="0"/>
          </a:p>
        </p:txBody>
      </p:sp>
      <p:sp>
        <p:nvSpPr>
          <p:cNvPr id="19" name="apuesta body Camescom como puerta a la hostelería"/>
          <p:cNvSpPr txBox="1"/>
          <p:nvPr/>
        </p:nvSpPr>
        <p:spPr>
          <a:xfrm>
            <a:off x="1280160" y="352958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Convertir la reunión del 15-oct en una presencia en un evento de socios y una visita presencial. Una Instalación Esencial (2.500 €) cada seis meses cierra el objetivo.</a:t>
            </a:r>
            <a:endParaRPr lang="en-US" sz="950" dirty="0"/>
          </a:p>
        </p:txBody>
      </p:sp>
      <p:sp>
        <p:nvSpPr>
          <p:cNvPr id="20" name="apuesta obj Camescom como puerta a la hostelería"/>
          <p:cNvSpPr txBox="1"/>
          <p:nvPr/>
        </p:nvSpPr>
        <p:spPr>
          <a:xfrm>
            <a:off x="6400800" y="3236976"/>
            <a:ext cx="1874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Objetivo: 1 visita en 30 días</a:t>
            </a:r>
            <a:endParaRPr lang="en-US" sz="1000" dirty="0"/>
          </a:p>
        </p:txBody>
      </p:sp>
      <p:sp>
        <p:nvSpPr>
          <p:cNvPr id="21" name="apuesta Fase 2: la cifra que falta"/>
          <p:cNvSpPr/>
          <p:nvPr/>
        </p:nvSpPr>
        <p:spPr>
          <a:xfrm>
            <a:off x="548640" y="4059936"/>
            <a:ext cx="78638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num 4"/>
          <p:cNvSpPr/>
          <p:nvPr/>
        </p:nvSpPr>
        <p:spPr>
          <a:xfrm>
            <a:off x="731520" y="42702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num text 4"/>
          <p:cNvSpPr txBox="1"/>
          <p:nvPr/>
        </p:nvSpPr>
        <p:spPr>
          <a:xfrm>
            <a:off x="73152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apuesta head Fase 2: la cifra que falta"/>
          <p:cNvSpPr txBox="1"/>
          <p:nvPr/>
        </p:nvSpPr>
        <p:spPr>
          <a:xfrm>
            <a:off x="1280160" y="41330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Fase 2: la cifra que falta</a:t>
            </a:r>
            <a:endParaRPr lang="en-US" sz="1300" dirty="0"/>
          </a:p>
        </p:txBody>
      </p:sp>
      <p:sp>
        <p:nvSpPr>
          <p:cNvPr id="25" name="apuesta body Fase 2: la cifra que falta"/>
          <p:cNvSpPr txBox="1"/>
          <p:nvPr/>
        </p:nvSpPr>
        <p:spPr>
          <a:xfrm>
            <a:off x="1280160" y="44256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Un DJ (CABINA) y una empresa (cobro) gratis a cambio de tres números escritos y permiso de publicarlos. Sin esto, todo lo demás vende una promesa.</a:t>
            </a:r>
            <a:endParaRPr lang="en-US" sz="950" dirty="0"/>
          </a:p>
        </p:txBody>
      </p:sp>
      <p:sp>
        <p:nvSpPr>
          <p:cNvPr id="26" name="apuesta obj Fase 2: la cifra que falta"/>
          <p:cNvSpPr txBox="1"/>
          <p:nvPr/>
        </p:nvSpPr>
        <p:spPr>
          <a:xfrm>
            <a:off x="6400800" y="4133088"/>
            <a:ext cx="1874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Objetivo: 2 casos antes del 31-oct</a:t>
            </a:r>
            <a:endParaRPr lang="en-US" sz="1000" dirty="0"/>
          </a:p>
        </p:txBody>
      </p:sp>
      <p:sp>
        <p:nvSpPr>
          <p:cNvPr id="27" name="apuesta Hostelería por WhatsApp, no por correo"/>
          <p:cNvSpPr/>
          <p:nvPr/>
        </p:nvSpPr>
        <p:spPr>
          <a:xfrm>
            <a:off x="548640" y="4956048"/>
            <a:ext cx="78638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num 5"/>
          <p:cNvSpPr/>
          <p:nvPr/>
        </p:nvSpPr>
        <p:spPr>
          <a:xfrm>
            <a:off x="731520" y="5166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num text 5"/>
          <p:cNvSpPr txBox="1"/>
          <p:nvPr/>
        </p:nvSpPr>
        <p:spPr>
          <a:xfrm>
            <a:off x="73152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apuesta head Hostelería por WhatsApp, no por correo"/>
          <p:cNvSpPr txBox="1"/>
          <p:nvPr/>
        </p:nvSpPr>
        <p:spPr>
          <a:xfrm>
            <a:off x="1280160" y="5029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Hostelería por WhatsApp, no por correo</a:t>
            </a:r>
            <a:endParaRPr lang="en-US" sz="1300" dirty="0"/>
          </a:p>
        </p:txBody>
      </p:sp>
      <p:sp>
        <p:nvSpPr>
          <p:cNvPr id="31" name="apuesta body Hostelería por WhatsApp, no por correo"/>
          <p:cNvSpPr txBox="1"/>
          <p:nvPr/>
        </p:nvSpPr>
        <p:spPr>
          <a:xfrm>
            <a:off x="1280160" y="532180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Ola 5 el 19-oct y después parar el correo en frío. Las ~45 cuentas con teléfono reciben WhatsApp M·1 con dos horarios. El correo abre; el WhatsApp pone fecha.</a:t>
            </a:r>
            <a:endParaRPr lang="en-US" sz="950" dirty="0"/>
          </a:p>
        </p:txBody>
      </p:sp>
      <p:sp>
        <p:nvSpPr>
          <p:cNvPr id="32" name="apuesta obj Hostelería por WhatsApp, no por correo"/>
          <p:cNvSpPr txBox="1"/>
          <p:nvPr/>
        </p:nvSpPr>
        <p:spPr>
          <a:xfrm>
            <a:off x="6400800" y="5029200"/>
            <a:ext cx="1874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Objetivo: 3 visitas agendadas</a:t>
            </a:r>
            <a:endParaRPr lang="en-US" sz="1000" dirty="0"/>
          </a:p>
        </p:txBody>
      </p:sp>
      <p:sp>
        <p:nvSpPr>
          <p:cNvPr id="33" name="aritmetica"/>
          <p:cNvSpPr/>
          <p:nvPr/>
        </p:nvSpPr>
        <p:spPr>
          <a:xfrm>
            <a:off x="8686800" y="1371600"/>
            <a:ext cx="2926080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arit head"/>
          <p:cNvSpPr txBox="1"/>
          <p:nvPr/>
        </p:nvSpPr>
        <p:spPr>
          <a:xfrm>
            <a:off x="886968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 aritmética del objetivo</a:t>
            </a:r>
            <a:endParaRPr lang="en-US" sz="1400" dirty="0"/>
          </a:p>
        </p:txBody>
      </p:sp>
      <p:sp>
        <p:nvSpPr>
          <p:cNvPr id="35" name="arit body"/>
          <p:cNvSpPr txBox="1"/>
          <p:nvPr/>
        </p:nvSpPr>
        <p:spPr>
          <a:xfrm>
            <a:off x="8869680" y="1920240"/>
            <a:ext cx="2606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2.600 € netos / mes</a:t>
            </a:r>
            <a:endParaRPr lang="en-US" sz="220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(3.000 USD) en el canal en línea</a:t>
            </a:r>
            <a:endParaRPr lang="en-US" sz="2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 × CABINA COMPLETA (249 €) → 1.311 € netos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15 × cobro de cartera (79 €) → 885 € netos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 Instalación Esencial cada 6 meses → 417 € / mes</a:t>
            </a:r>
            <a:endParaRPr lang="en-US" sz="2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22 ventas al mes cubren el 84–97 % según Gumroad cobre en USD o EUR. Polar sumaría ~240 €/mes con las mismas unidades.</a:t>
            </a:r>
            <a:endParaRPr lang="en-US" sz="2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C9C0"/>
                </a:solidFill>
              </a:rPr>
              <a:t>Hoy: 0 de 22.</a:t>
            </a:r>
            <a:endParaRPr lang="en-US" sz="2200" dirty="0"/>
          </a:p>
        </p:txBody>
      </p:sp>
      <p:sp>
        <p:nvSpPr>
          <p:cNvPr id="36" name="regla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Regla que no se toca: ante negociación se quita alcance, jamás se baja el precio. Ninguna cifra sin fuente; no decir «probadas» hasta levantar G2.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Riesgos abiertos y cómo están cubiertos</a:t>
            </a:r>
            <a:endParaRPr lang="en-US" sz="2600" dirty="0"/>
          </a:p>
        </p:txBody>
      </p:sp>
      <p:sp>
        <p:nvSpPr>
          <p:cNvPr id="3" name="riesgo El zip de Gumroad se comparte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riesgo marca El zip de Gumroad se comparte"/>
          <p:cNvSpPr/>
          <p:nvPr/>
        </p:nvSpPr>
        <p:spPr>
          <a:xfrm>
            <a:off x="777240" y="1737360"/>
            <a:ext cx="109728" cy="457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riesgo head El zip de Gumroad se comparte"/>
          <p:cNvSpPr txBox="1"/>
          <p:nvPr/>
        </p:nvSpPr>
        <p:spPr>
          <a:xfrm>
            <a:off x="1051560" y="16276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El zip de Gumroad se comparte</a:t>
            </a:r>
            <a:endParaRPr lang="en-US" sz="1300" dirty="0"/>
          </a:p>
        </p:txBody>
      </p:sp>
      <p:sp>
        <p:nvSpPr>
          <p:cNvPr id="6" name="riesgo body El zip de Gumroad se comparte"/>
          <p:cNvSpPr txBox="1"/>
          <p:nvPr/>
        </p:nvSpPr>
        <p:spPr>
          <a:xfrm>
            <a:off x="777240" y="23774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Un comprador lo pasa a diez. Desviación asumida (decisión 8). La licencia lo prohíbe; el remedio real es la fase 2: la cifra de cliente no se copia con el zip.</a:t>
            </a:r>
            <a:endParaRPr lang="en-US" sz="1050" dirty="0"/>
          </a:p>
        </p:txBody>
      </p:sp>
      <p:sp>
        <p:nvSpPr>
          <p:cNvPr id="7" name="riesgo receta-estandar se vende con G4 abajo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riesgo marca receta-estandar se vende con G4 abajo"/>
          <p:cNvSpPr/>
          <p:nvPr/>
        </p:nvSpPr>
        <p:spPr>
          <a:xfrm>
            <a:off x="4526280" y="1737360"/>
            <a:ext cx="109728" cy="457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riesgo head receta-estandar se vende con G4 abajo"/>
          <p:cNvSpPr txBox="1"/>
          <p:nvPr/>
        </p:nvSpPr>
        <p:spPr>
          <a:xfrm>
            <a:off x="4800600" y="16276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receta-estandar se vende con G4 abajo</a:t>
            </a:r>
            <a:endParaRPr lang="en-US" sz="1300" dirty="0"/>
          </a:p>
        </p:txBody>
      </p:sp>
      <p:sp>
        <p:nvSpPr>
          <p:cNvPr id="10" name="riesgo body receta-estandar se vende con G4 abajo"/>
          <p:cNvSpPr txBox="1"/>
          <p:nvPr/>
        </p:nvSpPr>
        <p:spPr>
          <a:xfrm>
            <a:off x="4526280" y="23774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La revisión externa de inocuidad no está. Mitigación contractual: no se entrega sin el anexo firmado; cada ficha marca [A VALIDAR] lo no confirmado.</a:t>
            </a:r>
            <a:endParaRPr lang="en-US" sz="1050" dirty="0"/>
          </a:p>
        </p:txBody>
      </p:sp>
      <p:sp>
        <p:nvSpPr>
          <p:cNvPr id="11" name="riesgo Datos de terceros en el historial de git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riesgo marca Datos de terceros en el historial de git"/>
          <p:cNvSpPr/>
          <p:nvPr/>
        </p:nvSpPr>
        <p:spPr>
          <a:xfrm>
            <a:off x="8275320" y="1737360"/>
            <a:ext cx="109728" cy="4572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riesgo head Datos de terceros en el historial de git"/>
          <p:cNvSpPr txBox="1"/>
          <p:nvPr/>
        </p:nvSpPr>
        <p:spPr>
          <a:xfrm>
            <a:off x="8549640" y="16276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Datos de terceros en el historial de git</a:t>
            </a:r>
            <a:endParaRPr lang="en-US" sz="1300" dirty="0"/>
          </a:p>
        </p:txBody>
      </p:sp>
      <p:sp>
        <p:nvSpPr>
          <p:cNvPr id="14" name="riesgo body Datos de terceros en el historial de git"/>
          <p:cNvSpPr txBox="1"/>
          <p:nvPr/>
        </p:nvSpPr>
        <p:spPr>
          <a:xfrm>
            <a:off x="8275320" y="23774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Correos y teléfonos de ~30 restaurantes estuvieron en zeus público un día. Repo privado desde el 17-sep; la tabla viva está en Drive privado. Sin remedio retroactivo.</a:t>
            </a:r>
            <a:endParaRPr lang="en-US" sz="1050" dirty="0"/>
          </a:p>
        </p:txBody>
      </p:sp>
      <p:sp>
        <p:nvSpPr>
          <p:cNvPr id="15" name="riesgo zeus-entrega concede el repositorio entero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riesgo marca zeus-entrega concede el repositorio entero"/>
          <p:cNvSpPr/>
          <p:nvPr/>
        </p:nvSpPr>
        <p:spPr>
          <a:xfrm>
            <a:off x="777240" y="4069080"/>
            <a:ext cx="109728" cy="4572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riesgo head zeus-entrega concede el repositorio entero"/>
          <p:cNvSpPr txBox="1"/>
          <p:nvPr/>
        </p:nvSpPr>
        <p:spPr>
          <a:xfrm>
            <a:off x="1051560" y="39593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zeus-entrega concede el repositorio entero</a:t>
            </a:r>
            <a:endParaRPr lang="en-US" sz="1300" dirty="0"/>
          </a:p>
        </p:txBody>
      </p:sp>
      <p:sp>
        <p:nvSpPr>
          <p:cNvPr id="18" name="riesgo body zeus-entrega concede el repositorio entero"/>
          <p:cNvSpPr txBox="1"/>
          <p:nvPr/>
        </p:nvSpPr>
        <p:spPr>
          <a:xfrm>
            <a:off x="777240" y="4709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Quien compre una skill de 49 € por Polar verá las 15 carpetas. Asumido en la decisión 13; el mismo script genera un repo por producto si hace falta.</a:t>
            </a:r>
            <a:endParaRPr lang="en-US" sz="1050" dirty="0"/>
          </a:p>
        </p:txBody>
      </p:sp>
      <p:sp>
        <p:nvSpPr>
          <p:cNvPr id="19" name="riesgo Correos externos generados sin lectura"/>
          <p:cNvSpPr/>
          <p:nvPr/>
        </p:nvSpPr>
        <p:spPr>
          <a:xfrm>
            <a:off x="429768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riesgo marca Correos externos generados sin lectura"/>
          <p:cNvSpPr/>
          <p:nvPr/>
        </p:nvSpPr>
        <p:spPr>
          <a:xfrm>
            <a:off x="4526280" y="4069080"/>
            <a:ext cx="109728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riesgo head Correos externos generados sin lectura"/>
          <p:cNvSpPr txBox="1"/>
          <p:nvPr/>
        </p:nvSpPr>
        <p:spPr>
          <a:xfrm>
            <a:off x="4800600" y="39593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Correos externos generados sin lectura</a:t>
            </a:r>
            <a:endParaRPr lang="en-US" sz="1300" dirty="0"/>
          </a:p>
        </p:txBody>
      </p:sp>
      <p:sp>
        <p:nvSpPr>
          <p:cNvPr id="22" name="riesgo body Correos externos generados sin lectura"/>
          <p:cNvSpPr txBox="1"/>
          <p:nvPr/>
        </p:nvSpPr>
        <p:spPr>
          <a:xfrm>
            <a:off x="4526280" y="4709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Incidente SkillHQ del 25-sep. Regla propuesta: ninguna sesión envía a un tercero; deja el borrador y Sergio pulsa enviar. Un seguimiento por prospecto y ninguno más.</a:t>
            </a:r>
            <a:endParaRPr lang="en-US" sz="1050" dirty="0"/>
          </a:p>
        </p:txBody>
      </p:sp>
      <p:sp>
        <p:nvSpPr>
          <p:cNvPr id="23" name="riesgo Cansancio del canal de correo"/>
          <p:cNvSpPr/>
          <p:nvPr/>
        </p:nvSpPr>
        <p:spPr>
          <a:xfrm>
            <a:off x="804672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riesgo marca Cansancio del canal de correo"/>
          <p:cNvSpPr/>
          <p:nvPr/>
        </p:nvSpPr>
        <p:spPr>
          <a:xfrm>
            <a:off x="8275320" y="4069080"/>
            <a:ext cx="109728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riesgo head Cansancio del canal de correo"/>
          <p:cNvSpPr txBox="1"/>
          <p:nvPr/>
        </p:nvSpPr>
        <p:spPr>
          <a:xfrm>
            <a:off x="8549640" y="39593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Cansancio del canal de correo</a:t>
            </a:r>
            <a:endParaRPr lang="en-US" sz="1300" dirty="0"/>
          </a:p>
        </p:txBody>
      </p:sp>
      <p:sp>
        <p:nvSpPr>
          <p:cNvPr id="26" name="riesgo body Cansancio del canal de correo"/>
          <p:cNvSpPr txBox="1"/>
          <p:nvPr/>
        </p:nvSpPr>
        <p:spPr>
          <a:xfrm>
            <a:off x="8275320" y="4709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133 envíos y dos noes. Seguir enviando quema cuentas que después se visitan. Parar tras la ola 5 y pasar a WhatsApp y presencia institucional.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cierre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decisiones para esta semana</a:t>
            </a:r>
            <a:endParaRPr lang="en-US" sz="3200" dirty="0"/>
          </a:p>
        </p:txBody>
      </p:sp>
      <p:sp>
        <p:nvSpPr>
          <p:cNvPr id="3" name="decision ¿Publicamos?"/>
          <p:cNvSpPr/>
          <p:nvPr/>
        </p:nvSpPr>
        <p:spPr>
          <a:xfrm>
            <a:off x="731520" y="15544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2A3875"/>
          </a:solidFill>
          <a:ln w="12700">
            <a:solidFill>
              <a:srgbClr val="2A3875"/>
            </a:solidFill>
            <a:prstDash val="solid"/>
          </a:ln>
        </p:spPr>
      </p:sp>
      <p:sp>
        <p:nvSpPr>
          <p:cNvPr id="4" name="num 1"/>
          <p:cNvSpPr/>
          <p:nvPr/>
        </p:nvSpPr>
        <p:spPr>
          <a:xfrm>
            <a:off x="960120" y="18105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 text 1"/>
          <p:cNvSpPr txBox="1"/>
          <p:nvPr/>
        </p:nvSpPr>
        <p:spPr>
          <a:xfrm>
            <a:off x="96012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decision head ¿Publicamos?"/>
          <p:cNvSpPr txBox="1"/>
          <p:nvPr/>
        </p:nvSpPr>
        <p:spPr>
          <a:xfrm>
            <a:off x="1508760" y="1737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¿Publicamos?</a:t>
            </a:r>
            <a:endParaRPr lang="en-US" sz="1700" dirty="0"/>
          </a:p>
        </p:txBody>
      </p:sp>
      <p:sp>
        <p:nvSpPr>
          <p:cNvPr id="7" name="decision body ¿Publicamos?"/>
          <p:cNvSpPr txBox="1"/>
          <p:nvPr/>
        </p:nvSpPr>
        <p:spPr>
          <a:xfrm>
            <a:off x="1508760" y="23774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Sí o no al primer post en r/ClaudeAI con el texto ya escrito, y al de LinkedIn de cobro de cartera. Es la palanca de coste cero que no se ha probado.</a:t>
            </a:r>
            <a:endParaRPr lang="en-US" sz="1200" dirty="0"/>
          </a:p>
        </p:txBody>
      </p:sp>
      <p:sp>
        <p:nvSpPr>
          <p:cNvPr id="8" name="decision ¿Paramos el correo en frío tras la ola 5?"/>
          <p:cNvSpPr/>
          <p:nvPr/>
        </p:nvSpPr>
        <p:spPr>
          <a:xfrm>
            <a:off x="6217920" y="15544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2A3875"/>
          </a:solidFill>
          <a:ln w="12700">
            <a:solidFill>
              <a:srgbClr val="2A3875"/>
            </a:solidFill>
            <a:prstDash val="solid"/>
          </a:ln>
        </p:spPr>
      </p:sp>
      <p:sp>
        <p:nvSpPr>
          <p:cNvPr id="9" name="num 2"/>
          <p:cNvSpPr/>
          <p:nvPr/>
        </p:nvSpPr>
        <p:spPr>
          <a:xfrm>
            <a:off x="6446520" y="18105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 text 2"/>
          <p:cNvSpPr txBox="1"/>
          <p:nvPr/>
        </p:nvSpPr>
        <p:spPr>
          <a:xfrm>
            <a:off x="644652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decision head ¿Paramos el correo en frío tras la ola 5?"/>
          <p:cNvSpPr txBox="1"/>
          <p:nvPr/>
        </p:nvSpPr>
        <p:spPr>
          <a:xfrm>
            <a:off x="6995160" y="1737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¿Paramos el correo en frío tras la ola 5?</a:t>
            </a:r>
            <a:endParaRPr lang="en-US" sz="1700" dirty="0"/>
          </a:p>
        </p:txBody>
      </p:sp>
      <p:sp>
        <p:nvSpPr>
          <p:cNvPr id="12" name="decision body ¿Paramos el correo en frío tras la ola 5?"/>
          <p:cNvSpPr txBox="1"/>
          <p:nvPr/>
        </p:nvSpPr>
        <p:spPr>
          <a:xfrm>
            <a:off x="6995160" y="23774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Los 32 borradores salen el lunes 19-oct; después, WhatsApp y Camescom. Ningún correo nuevo a restaurantes hasta tener una cifra de cliente.</a:t>
            </a:r>
            <a:endParaRPr lang="en-US" sz="1200" dirty="0"/>
          </a:p>
        </p:txBody>
      </p:sp>
      <p:sp>
        <p:nvSpPr>
          <p:cNvPr id="13" name="decision ¿A quién le regalamos la fase 2?"/>
          <p:cNvSpPr/>
          <p:nvPr/>
        </p:nvSpPr>
        <p:spPr>
          <a:xfrm>
            <a:off x="731520" y="379476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2A3875"/>
          </a:solidFill>
          <a:ln w="12700">
            <a:solidFill>
              <a:srgbClr val="2A3875"/>
            </a:solidFill>
            <a:prstDash val="solid"/>
          </a:ln>
        </p:spPr>
      </p:sp>
      <p:sp>
        <p:nvSpPr>
          <p:cNvPr id="14" name="num 3"/>
          <p:cNvSpPr/>
          <p:nvPr/>
        </p:nvSpPr>
        <p:spPr>
          <a:xfrm>
            <a:off x="96012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um text 3"/>
          <p:cNvSpPr txBox="1"/>
          <p:nvPr/>
        </p:nvSpPr>
        <p:spPr>
          <a:xfrm>
            <a:off x="96012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decision head ¿A quién le regalamos la fase 2?"/>
          <p:cNvSpPr txBox="1"/>
          <p:nvPr/>
        </p:nvSpPr>
        <p:spPr>
          <a:xfrm>
            <a:off x="1508760" y="3977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¿A quién le regalamos la fase 2?</a:t>
            </a:r>
            <a:endParaRPr lang="en-US" sz="1700" dirty="0"/>
          </a:p>
        </p:txBody>
      </p:sp>
      <p:sp>
        <p:nvSpPr>
          <p:cNvPr id="17" name="decision body ¿A quién le regalamos la fase 2?"/>
          <p:cNvSpPr txBox="1"/>
          <p:nvPr/>
        </p:nvSpPr>
        <p:spPr>
          <a:xfrm>
            <a:off x="150876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Un DJ y una empresa con nombre antes del 31-oct. Si no hay nombres, la fábrica puede proponer cinco de cada en una lista; la llamada es tuya.</a:t>
            </a:r>
            <a:endParaRPr lang="en-US" sz="1200" dirty="0"/>
          </a:p>
        </p:txBody>
      </p:sp>
      <p:sp>
        <p:nvSpPr>
          <p:cNvPr id="18" name="decision ¿Gumroad está cobrando de verdad?"/>
          <p:cNvSpPr/>
          <p:nvPr/>
        </p:nvSpPr>
        <p:spPr>
          <a:xfrm>
            <a:off x="6217920" y="379476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2A3875"/>
          </a:solidFill>
          <a:ln w="12700">
            <a:solidFill>
              <a:srgbClr val="2A3875"/>
            </a:solidFill>
            <a:prstDash val="solid"/>
          </a:ln>
        </p:spPr>
      </p:sp>
      <p:sp>
        <p:nvSpPr>
          <p:cNvPr id="19" name="num 4"/>
          <p:cNvSpPr/>
          <p:nvPr/>
        </p:nvSpPr>
        <p:spPr>
          <a:xfrm>
            <a:off x="644652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um text 4"/>
          <p:cNvSpPr txBox="1"/>
          <p:nvPr/>
        </p:nvSpPr>
        <p:spPr>
          <a:xfrm>
            <a:off x="644652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decision head ¿Gumroad está cobrando de verdad?"/>
          <p:cNvSpPr txBox="1"/>
          <p:nvPr/>
        </p:nvSpPr>
        <p:spPr>
          <a:xfrm>
            <a:off x="6995160" y="3977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¿Gumroad está cobrando de verdad?</a:t>
            </a:r>
            <a:endParaRPr lang="en-US" sz="1700" dirty="0"/>
          </a:p>
        </p:txBody>
      </p:sp>
      <p:sp>
        <p:nvSpPr>
          <p:cNvPr id="22" name="decision body ¿Gumroad está cobrando de verdad?"/>
          <p:cNvSpPr txBox="1"/>
          <p:nvPr/>
        </p:nvSpPr>
        <p:spPr>
          <a:xfrm>
            <a:off x="699516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Identidad, método de cobro a México y W-8BEN. Una compra de prueba a 1 USD lo demuestra en diez minutos. Sin esto, una venta no es dinero.</a:t>
            </a:r>
            <a:endParaRPr lang="en-US" sz="1200" dirty="0"/>
          </a:p>
        </p:txBody>
      </p:sp>
      <p:sp>
        <p:nvSpPr>
          <p:cNvPr id="23" name="cierre nota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Lo que la fábrica deja hecho hoy: correo revisado y contestado, invitación de Camescom aceptada, estado del repositorio al día, estas láminas en venta/informes/.</a:t>
            </a:r>
            <a:endParaRPr lang="en-US" sz="1100" dirty="0"/>
          </a:p>
        </p:txBody>
      </p:sp>
      <p:sp>
        <p:nvSpPr>
          <p:cNvPr id="25" name="Text 0"/>
          <p:cNvSpPr/>
          <p:nvPr>
            <p:ph idx="100" type="title" hasCustomPrompt="1"/>
          </p:nvPr>
        </p:nvSpPr>
        <p:spPr>
          <a:xfrm>
            <a:off x="731520" y="1737360"/>
            <a:ext cx="9326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6" name="Text 0"/>
          <p:cNvSpPr/>
          <p:nvPr>
            <p:ph idx="101" type="body" hasCustomPrompt="1"/>
          </p:nvPr>
        </p:nvSpPr>
        <p:spPr>
          <a:xfrm>
            <a:off x="731520" y="40233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TAVA Ejecutivo">
  <a:themeElements>
    <a:clrScheme name="OCTAVA Ejecutivo">
      <a:dk1>
        <a:srgbClr val="1F2937"/>
      </a:dk1>
      <a:lt1>
        <a:srgbClr val="FFFFFF"/>
      </a:lt1>
      <a:dk2>
        <a:srgbClr val="1E2761"/>
      </a:dk2>
      <a:lt2>
        <a:srgbClr val="F2F4F7"/>
      </a:lt2>
      <a:accent1>
        <a:srgbClr val="B85042"/>
      </a:accent1>
      <a:accent2>
        <a:srgbClr val="1E2761"/>
      </a:accent2>
      <a:accent3>
        <a:srgbClr val="8A97AB"/>
      </a:accent3>
      <a:accent4>
        <a:srgbClr val="2C5F2D"/>
      </a:accent4>
      <a:accent5>
        <a:srgbClr val="D9A441"/>
      </a:accent5>
      <a:accent6>
        <a:srgbClr val="6B7280"/>
      </a:accent6>
      <a:hlink>
        <a:srgbClr val="1E2761"/>
      </a:hlink>
      <a:folHlink>
        <a:srgbClr val="6B7280"/>
      </a:folHlink>
    </a:clrScheme>
    <a:fontScheme name="OCTAVA Ejecutiv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OCTAVA / ZEUS · Resumen ejecutivo · 14-oct-2026</dc:title>
  <dc:subject>PptxGenJS Presentation</dc:subject>
  <dc:creator>OCTAVA / ZEUS</dc:creator>
  <cp:lastModifiedBy>OCTAVA / ZEUS</cp:lastModifiedBy>
  <cp:revision>1</cp:revision>
  <dcterms:created xsi:type="dcterms:W3CDTF">2026-10-14T22:30:45Z</dcterms:created>
  <dcterms:modified xsi:type="dcterms:W3CDTF">2026-10-14T22:30:45Z</dcterms:modified>
</cp:coreProperties>
</file>