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d4068bf1-32e8-d4b4-3ab5-ef685089b767}">
          <p14:sldIdLst>
            <p14:sldId id="256"/>
            <p14:sldId id="257"/>
          </p14:sldIdLst>
        </p14:section>
        <p14:section name="Dónde estamos" id="{abdebba4-9816-81f8-f5d1-a91ae0b35036}">
          <p14:sldIdLst>
            <p14:sldId id="258"/>
          </p14:sldIdLst>
        </p14:section>
        <p14:section name="Qué aplicamos" id="{39795308-5047-7474-32f9-83654dae37d3}">
          <p14:sldIdLst>
            <p14:sldId id="259"/>
          </p14:sldIdLst>
        </p14:section>
        <p14:section name="Qué han dicho" id="{3245e78c-c96c-d3e6-4c1d-3cd6c6703219}">
          <p14:sldIdLst>
            <p14:sldId id="260"/>
          </p14:sldIdLst>
        </p14:section>
        <p14:section name="Qué hemos hecho" id="{c0e4f982-8354-1e0e-1b2b-5b33fc3b5158}">
          <p14:sldIdLst>
            <p14:sldId id="261"/>
          </p14:sldIdLst>
        </p14:section>
        <p14:section name="Economía" id="{3c4df8d3-6b12-2c6f-2303-bddfdb3df48c}">
          <p14:sldIdLst>
            <p14:sldId id="262"/>
          </p14:sldIdLst>
        </p14:section>
        <p14:section name="Diagnóstico" id="{31106091-9ea7-557c-8717-01652e7ebd83}">
          <p14:sldIdLst>
            <p14:sldId id="263"/>
          </p14:sldIdLst>
        </p14:section>
        <p14:section name="Plan" id="{ea4d57ce-3d9b-b29d-4165-2be8b9351dc6}">
          <p14:sldIdLst>
            <p14:sldId id="264"/>
          </p14:sldIdLst>
        </p14:section>
        <p14:section name="Pendientes" id="{76f8fa28-c00b-1cbb-9803-91bc1117f247}">
          <p14:sldIdLst>
            <p14:sldId id="265"/>
          </p14:sldIdLst>
        </p14:section>
        <p14:section name="Riesgos" id="{8633c6c2-b836-8f7a-489a-67c485af2365}">
          <p14:sldIdLst>
            <p14:sldId id="266"/>
          </p14:sldIdLst>
        </p14:section>
        <p14:section name="Cierre" id="{2fa33328-4c05-2816-8557-7f7819ac049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321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A2321"/>
                </a:solidFill>
                <a:latin typeface="+mn-lt"/>
              </a:rPr>
              <a:t>Neto por venta directa tras 12,9 % + 0,80 (estimación en EUR)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Neto por unidad (€)</c:v>
                </c:pt>
              </c:strCache>
            </c:strRef>
          </c:tx>
          <c:spPr>
            <a:solidFill>
              <a:srgbClr val="1F5E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CABINA COMPLETA 249</c:v>
                  </c:pt>
                  <c:pt idx="1">
                    <c:v>Productividad 199</c:v>
                  </c:pt>
                  <c:pt idx="2">
                    <c:v>CABINA CORE 149</c:v>
                  </c:pt>
                  <c:pt idx="3">
                    <c:v>CABINA EVENTOS 99</c:v>
                  </c:pt>
                  <c:pt idx="4">
                    <c:v>PACK CONTEXTO 89</c:v>
                  </c:pt>
                  <c:pt idx="5">
                    <c:v>Cobro 79</c:v>
                  </c:pt>
                  <c:pt idx="6">
                    <c:v>Suelta 49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216</c:v>
                </c:pt>
                <c:pt idx="1">
                  <c:v>172</c:v>
                </c:pt>
                <c:pt idx="2">
                  <c:v>129</c:v>
                </c:pt>
                <c:pt idx="3">
                  <c:v>85</c:v>
                </c:pt>
                <c:pt idx="4">
                  <c:v>76</c:v>
                </c:pt>
                <c:pt idx="5">
                  <c:v>68</c:v>
                </c:pt>
                <c:pt idx="6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3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3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EF2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8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ZEUS / FORJA · Confidencial · 14-oct-2026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ZEUS / FORJA · Estado a 14-oct-2026 · Fuente: catalogo/ y venta/ del repositorio, correo de la casa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El producto y la caja están listos. Lo que falta es que alguien lo vea.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Estado del encargo, decisiones aplicadas, lo que ha dicho el mercado y el plan de monetización · Sergio Berriozábal Serrano · 14 de octubre de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Resumen ejecutivo: 17 skills vendibles y cero demanda, porque el único canal trabajado fue el correo en frío a restaurantes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skills en estado ACORDADO, 19/20, con ficha, licencia y zip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5087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productos en alta en Gumroad con enlace directo (cabina.gumroad.com)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0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ventas · 0 visitas · 1 respuesta (negativa) a ~130 correos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52560" y="15087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0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posts publicados de los seis canales planificados el 17-sep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00400"/>
            <a:ext cx="11064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chemeClr val="tx1"/>
                </a:solidFill>
              </a:rPr>
              <a:t>Qué está hecho.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Catálogo auditado, tarifa ratificada, tienda abierta, escaparate público con ficha y precio por skill, marketplace instalable, repositorio privado de entrega, kit de venta completo. Nada de esto requiere más fabricación.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chemeClr val="tx1"/>
                </a:solidFill>
              </a:rPr>
              <a:t>Qué no ha funcionado.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La venta de hostelería por correo: ~130 envíos en cuatro pasadas, una respuesta («no nos interesa»), ninguna visita. SkillHQ no admite la tarifa (tope 50 €); myClaude no recibe correo.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chemeClr val="tx1"/>
                </a:solidFill>
              </a:rPr>
              <a:t>Qué cambia.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El comprador de una skill es quien ya usa Claude Code. El empuje se invierte: primero PACK CONTEXTO en las comunidades de Claude, después cobro en LinkedIn, después CABINA entre DJ; la hostelería solo por visita. Seis posts redactados y listos; salen esta semana.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Dónde estamos: todo lo que depende de la fábrica está verde; todo lo que depende del mercado está en cero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03504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a 14-oct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skills en ACORDADO; validador 20/20 mecánico, 19/20 declarado; G1, G3, G5 en 17/17; G4 en 16/17 (receta-estandar espera revisión de inocuidad); G2 en 0/17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Cerrado. G2 solo lo levanta un cliente que pague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Gumroad abierto el 16-sep, 15 productos con los slugs del escaparate, banco mexicano conectado el 15-sep. Comisión real ≈ 12,9 % + 0,80 por venta directa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Cerrado. Queda confirmar identidad y W-8BEN en la cuenta (solo lo sabe el titular)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Escaparate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github.com/sberriozabal-rgb/octava-skills: 17 fichas, marketplace validado, skill abierta, formularios de compra e instalación; GitHub Pages. 1 estrella, 0 issues de compradores, sin topics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Publicado pero invisible: nadie llega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Hostelería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Campaña del 7-sep (~28 correos) + CDMX-100 (38 + 8 + 17 + 12 en cuatro pasadas). 1 respuesta negativa (Mercaderes, 12-oct); un grupo cerró la puerta por proceso interno; 0 visitas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agotado por correo. Siguiente intento solo por visita o WhatsApp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SkillHQ: contestó el 22-sep (Starter = MoR, PayPal en EUR, tope 50 €). myClaude: dos rebotes, su correo no recibe. claudemarketplaces: sin respuesta desde el 17-sep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 sirve para el catálogo a la tarifa. SkillHQ, como mucho, sueltas a 49 €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2 (prueba con cifra)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correos redactados el 12-sep; sin DJ ni empresa con nombre a 14-oct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0/2. Es el hueco que sostiene todo lo demás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Qué aplicamos: trece decisiones registradas con su razón; las de canal y visibilidad se tomaron y revirtieron en 48 horas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  <a:gridCol w="749808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15-sep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ratificada: hostelería 2.500 / 4.900 € · CABINA 49 / 149 / 99 / 249 € · cobro 79 € · neutras 49 € · PACK CONTEXTO 89 €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15-sep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checklist-turno retirada: duplicaba apertura-cierre-turno con licencia libre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→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15-sep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Canal: Polar (mañana) sustituido por Gumroad (tarde) tras rehacer la cuenta con la tarjeta dentro; Gumroad y myClaude empatan en unidades; decide el IVA resuelto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15-sep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Primeros productos: CABINA COMPLETA a 249 (las seis) y cobro a 79. El informe v1.1.0 (CORE 249 USD, cobro 69 USD) queda derogado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15–16-sep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Publicación pública ordenada por el titular: octava-skills (escaparate + skill abierta) y zeus íntegro en abierto, saltando 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vigente · 11 revertida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17-sep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zeus vuelve a privado: datos de terceros en venta/ y en el historial; la publicidad no aportaba a la venta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16–17-sep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Repositorio privado de entrega zeus-entrega (15 productos, 297 ficheros) para Polar y otros canales; Polar abierto en sandbox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 de prueba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Qué han dicho: poco, y todo apunta al mismo sitio: el catálogo no cabe en estantes ajenos y los restaurantes no contestan al correo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727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SkillHQ · Mirek, 22-sep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57276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«Starter: somos merchant of record. Stripe no paga a México; PayPal en euros. Rango 2–50 €; un listing de 249 € no está soportado y no tenemos evidencia de que venda.»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57276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Confirma la tesis de la casa: CABINA COMPLETA se defiende en página propia, no en un estante. El 25-sep salieron de la casa dos correos malformados con skills incrustadas y a 12–18 €; corregidos hoy con una disculpa y la tarifa de la casa.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7977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myClaude · 18–20-sep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77977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Dos rebotes: «el servidor de correo del dominio no acepta conexiones» durante 72 horas.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77977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Sin contacto por correo. Queda GitHub o X si algún día compensa. No entra hasta resolver el IVA.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77056"/>
            <a:ext cx="1106424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8678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Restaurantes CDMX · sep–oct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98678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Mercaderes (12-oct): «No nos encontramos interesados.» Grupo RosaNegra (16-sep): «por proceso interno no facilitamos el contacto de operaciones.» El resto: silencio o rebote.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3986784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El buzón de contacto no llega al dueño. ~130 envíos, 0 visitas. La próxima puerta es la visita o el WhatsApp, no otra ola de correo.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84064"/>
            <a:ext cx="1106424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1937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Gumroad · 16-sep a 14-oct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519379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Cero notificaciones de venta en el correo de la casa.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519379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Confirma que el problema es tráfico, no conversión: no hay visitas que convertir.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Qué hemos hecho: producto, caja, escaparate, entrega y material de venta cerrados; lo único que falta es una conversación con un cliente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651760" cy="4480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331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17 skills a 20/20 mecánico; frontmatter y licencia validados en las 17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Empaquetador con validación previa; 16 zips sin material de fábrica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receta-estandar con cifras de inocuidad ancladas al RD 3484/2000 y anexo contractual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64992" y="1508760"/>
            <a:ext cx="2651760" cy="4480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 y entrega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103120"/>
            <a:ext cx="2331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Gumroad: 15 productos, hoja de alta campo por campo, 30 portadas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zeus-entrega privado para Polar (sandbox abierto)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Comisión, pago a México y moneda verificados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1344" y="1508760"/>
            <a:ext cx="2651760" cy="4480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Escaparate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103120"/>
            <a:ext cx="2331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octava-skills: 17 fichas, marketplace, skill abierta, formularios de compra e instalación, GitHub Pages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Escaparate web en claude.ai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Correos a SkillHQ, myClaude y claudemarketplaces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97696" y="1508760"/>
            <a:ext cx="2651760" cy="4480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0576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103120"/>
            <a:ext cx="2331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Campañas: 7-sep (~28) y CDMX-100 (75 en cuatro pasadas) con generadores y seguimientos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Guion de visita, oferta de hostelería, landing del Diagnóstico Exprés, calendario LinkedIn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Seis posts de lanzamiento redactados (14-oct)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Economía: 3.000 netos al mes son 7 packs CABINA, 15 planes de cobro y 6 PACK CONTEXTO, o una sola instalación de hostelería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583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406640" y="155448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Cuota para 3.000 €/mes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7 × CABINA COMPLETA (1.512) + 15 × cobro (1.020) + 6 × PACK CONTEXTO (456) ≈ 2.990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O bien una Instalación Completa de hostelería (4.900 €) cada seis semanas.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Lo que dice la referencia de la doctrina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El 44 % de los productos digitales factura 0; la mediana, 72 $/mes (InsightRaider, State of Gumroad 2026). Publicar no es vender.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Cambiar de canal no ahorra ni una venta: Gumroad, myClaude y Polar dan la misma cuota en unidades. La palanca es el tráfico.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Por qué no hay ventas: el embudo está vacío arriba, no roto abajo, y el comprador real es más estrecho que el catálogo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Tráfico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 estrella, 0 topics, 0 posts. Nadie ha llegado al escaparate ni a la tienda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4992" y="150876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7872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Interés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697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Sin visitas no hay dato. Los formularios de compra siguen vacíos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150876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Compra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2697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Ninguna notificación de Gumroad en un mes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97696" y="150876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0576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Prueba con cifra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697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Ningún DJ ni empresa con nombre. Sin cifra de cliente, el argumento es solo de fábrica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4048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Tres causas, por peso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1. Nada publicado.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La estrategia de seis canales existe desde el 17-sep; ningún post ha salido. Sin tráfico, el precio y la ficha no se pueden ni juzgar.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2. Intersección estrecha.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Compra quien ya usa Claude Code. Un DJ con Claude es poco frecuente; un restaurante con Claude, casi inexistente. El único producto cuyo dolor vive dentro de Claude es el PACK CONTEXTO, y es el que menos se ha empujado.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3. Canal equivocado para hostelería.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El buzón de contacto del restaurante no llega al dueño. El Diagnóstico Exprés se vende en la puerta y por WhatsApp; el correo solo abre la conversación, y en 130 intentos no la abrió ni una vez.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Plan: invertir el orden de empuje y publicar esta semana lo que ya está escrito, midiendo tráfico antes de tocar precio o ficha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2743200"/>
                <a:gridCol w="3474720"/>
                <a:gridCol w="1737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está su comprador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primero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Pieza lista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CONTEXTO (89 €) y sus dos sueltas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r/ClaudeAI, r/ClaudeCode, Show HN,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comprador ya está dentro de Claude y teme perder meses de proyecto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1, Show HN, hilo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Cobro de cartera vencida (79 €)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en español, contadores, pymes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Dolor con cifra; el comprador sabe cuánto tiene vencido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LinkedIn + ficha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CABINA (49–249 €)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r/DJs, r/Beatmatch, grupos de DJ en español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Nicho real; hay que enseñar primero qué es una skill. Oferta: «mándame tu XML»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 4 y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Instalación de hostelería (2.500 / 4.900 €)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 a pie por colonia, WhatsApp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 agotado: 130 envíos, 0 visitas. El ticket justifica la visita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Guion, oferta, landing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2628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Siete días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Hoy: topics del repositorio · Discover apagado en Gumroad · post 1 en r/ClaudeAI   |   +1: Show HN · hilo en X · PR a dos listas awesome   |   +2: LinkedIn (cobro) · correo a claudemarketplaces   |   +4: r/DJs, r/Beatmatch, dos grupos en español   |   cada día: contestar comentarios; un «send me your XML» atendido vale más que diez posts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Regla de decisión a dos semanas: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tráfico y cero ventas → se toca precio o ficha. Cero tráfico → no se publicó. Una venta → se pide la cifra y se levanta G2.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Estatus de lo pendiente: once asuntos abiertos, nueve son del titular y dos de la fábrica; ninguno es de fabricación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371600"/>
                <a:gridCol w="201168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Asunto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Dueño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 los seis posts y los PR a listas awesome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 semana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8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Redactados en LANZAMIENTO-COPIA.md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 del repositorio octava-skills y Discover apagado en Gumroad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Hoy, 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8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fábrica no puede: 403 del proxy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Verificación de identidad y W-8BEN en Gumroad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la primera venta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8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el titular sabe si está cerrado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Comprar un producto a 1 USD y anotar el desglose real de comisión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8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el último hueco de la cuenta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conversaciones de prueba: un DJ y una empresa con 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hueco que importa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8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Correos redactados desde el 12-sep; sin destinatario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Primera visita de hostelería con guion y oferta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haya puerta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8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 agotado; a pie o por WhatsApp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externa de inocuidad y abogado para receta-estandar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 · consultor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entregar la primera Completa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8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Único G4 abajo; anexo redactado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de entrega en Polar sandbox y, si va, producción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8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si Gumroad falla o se quiere segundo 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SkillHQ: decidir si entran sueltas a 49 € en Starter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 respuesta al correo de hoy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8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Corrección enviada hoy: disculpa por los dos correos del 25-sep, tarifa de la casa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de respuestas de Mercaderes, SkillHQ y claudemarketplaces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Fábrica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8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Mercaderes cerrado hoy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estado en LISTA-DE-VENTA y PLAN tras cada semana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Fábrica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8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 deck es la foto del 14-oct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Riesgos: cuatro de reputación o legales que una sola venta hace reales, y uno comercial que ya se ha materializado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Materializado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554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Un mes sin tráfico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5544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Cero posts, cero topics, cero visitas. Mitigación: calendario de siete días con todo redactado.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642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Reputación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514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Correos malformados a SkillHQ (25-sep)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Dos mensajes con skills incrustadas en base64, «production-tested» y 12–18 €. Corregido hoy con disculpa, retirada y tarifa de la casa.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642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74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Legal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3474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receta-estandar con G4 abajo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34747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 vende dentro de la Completa sin revisión externa de inocuidad. Mitigación: anexo contractual firmado antes de entregar; pendiente de abogado y técnico.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642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34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Producto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G2 en 0/17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4434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Ninguna skill ejecutada con datos de un cliente que pagó. No bloquea vender; prohíbe decir «probadas». Lo levanta la primera venta.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642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394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Entrega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5394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zeus-entrega concede el repositorio entero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53949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Quien compre una skill de 49 € por Polar ve las 15. Mitigación disponible: un repositorio por producto con el mismo script.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 decisión de hoy no es qué fabricar. Es publicar lo escrito y hablar con dos personas con nombre.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Hoy: topics, Discover apagado, post 1.   Esta semana: los otros cinco posts y los PR.   Dos semanas: una cifra de cliente o un cambio de precio con datos.   Objetivo firmado: 3.000 netos al mes.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EUS Ejecutivo">
  <a:themeElements>
    <a:clrScheme name="ZEUS Ejecutivo">
      <a:dk1>
        <a:srgbClr val="1A2321"/>
      </a:dk1>
      <a:lt1>
        <a:srgbClr val="FFFFFF"/>
      </a:lt1>
      <a:dk2>
        <a:srgbClr val="1F5E4C"/>
      </a:dk2>
      <a:lt2>
        <a:srgbClr val="EEF2F0"/>
      </a:lt2>
      <a:accent1>
        <a:srgbClr val="1F5E4C"/>
      </a:accent1>
      <a:accent2>
        <a:srgbClr val="C9A227"/>
      </a:accent2>
      <a:accent3>
        <a:srgbClr val="9AA8A4"/>
      </a:accent3>
      <a:accent4>
        <a:srgbClr val="B04A3A"/>
      </a:accent4>
      <a:accent5>
        <a:srgbClr val="2E7D6B"/>
      </a:accent5>
      <a:accent6>
        <a:srgbClr val="5B6866"/>
      </a:accent6>
      <a:hlink>
        <a:srgbClr val="1F5E4C"/>
      </a:hlink>
      <a:folHlink>
        <a:srgbClr val="5B6866"/>
      </a:folHlink>
    </a:clrScheme>
    <a:fontScheme name="ZEUS Ejecutiv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ZEUS · Estado del encargo y plan de monetización</dc:title>
  <dc:subject>PptxGenJS Presentation</dc:subject>
  <dc:creator>Fábrica ZEUS / FORJA</dc:creator>
  <cp:lastModifiedBy>Fábrica ZEUS / FORJA</cp:lastModifiedBy>
  <cp:revision>1</cp:revision>
  <dcterms:created xsi:type="dcterms:W3CDTF">2026-10-15T22:31:05Z</dcterms:created>
  <dcterms:modified xsi:type="dcterms:W3CDTF">2026-10-15T22:31:05Z</dcterms:modified>
</cp:coreProperties>
</file>